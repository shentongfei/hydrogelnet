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4c8ae307e49426b" Type="http://schemas.openxmlformats.org/officeDocument/2006/relationships/extended-properties" Target="docProps/app.xml"/><Relationship Id="R993942952cab4fba" Type="http://schemas.openxmlformats.org/officeDocument/2006/relationships/officeDocument" Target="ppt/presentation.xml"/><Relationship Id="Raf0610d04828413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8e14b609a04b0f"/>
  </p:sldMasterIdLst>
  <p:notesMasterIdLst>
    <p:notesMasterId xmlns:r="http://schemas.openxmlformats.org/officeDocument/2006/relationships" r:id="R50d70d431ac54b79"/>
  </p:notesMasterIdLst>
  <p:sldIdLst>
    <p:sldId xmlns:r="http://schemas.openxmlformats.org/officeDocument/2006/relationships" id="256" r:id="R3e02c4a249014a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3e02c4a249014a1e" Type="http://schemas.openxmlformats.org/officeDocument/2006/relationships/slide" Target="slides/slide1.xml"/><Relationship Id="R50d70d431ac54b79" Type="http://schemas.openxmlformats.org/officeDocument/2006/relationships/notesMaster" Target="notesMasters/notesMaster1.xml"/><Relationship Id="R7723844e265849b5" Type="http://schemas.openxmlformats.org/officeDocument/2006/relationships/theme" Target="theme/theme1.xml"/><Relationship Id="Rcad5f63458bf4786" Type="http://schemas.openxmlformats.org/officeDocument/2006/relationships/presProps" Target="presProps.xml"/><Relationship Id="Rd85d40063df84283" Type="http://schemas.openxmlformats.org/officeDocument/2006/relationships/tableStyles" Target="tableStyles.xml"/><Relationship Id="Rf08e14b609a04b0f" Type="http://schemas.openxmlformats.org/officeDocument/2006/relationships/slideMaster" Target="slideMasters/slideMaster1.xml"/></Relationships>
</file>

<file path=ppt/notesMasters/_rels/notesMaster1.xml.rels><?xml version='1.0' encoding='UTF-8' standalone='yes'?>
<Relationships xmlns="http://schemas.openxmlformats.org/package/2006/relationships"><Relationship Id="R0b9b06df65084c7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284aab205bc4010" Type="http://schemas.openxmlformats.org/officeDocument/2006/relationships/slide" Target="../slides/slide1.xml"/><Relationship Id="R14f9f37a8d92416e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/Users/floretli/Desktop/paper_writing/others/TransMicro-net/2.0/pipeline.txt (cohort counts, feature construction, model-selection protocol, evaluation metrics, and workflow order)</a:t>
            </a:r>
          </a:p>
          <a:p xmlns:a="http://schemas.openxmlformats.org/drawingml/2006/main">
            <a:r>
              <a:t>- /Users/floretli/Desktop/paper_writing/others/TransMicro-net/resource/pipeline_figure/figures_2/Figure1_SIMPLEX_workflow_2.0.pptx (visual source)</a:t>
            </a:r>
          </a:p>
          <a:p xmlns:a="http://schemas.openxmlformats.org/drawingml/2006/main">
            <a:r>
              <a:t>- Panel A protocol source: Liao et al., Nature 644, 89–95 (2025), underwater tack test on glass in normal saline, 10 N for 10 s. The diagram is an independent reconstruction from the written Methods, not copied artwork.</a:t>
            </a:r>
          </a:p>
          <a:p xmlns:a="http://schemas.openxmlformats.org/drawingml/2006/main">
            <a:r>
              <a:t>- Panel A hydrogel icon: Marcel Tisch via BioIcons, CC0.</a:t>
            </a:r>
          </a:p>
          <a:p xmlns:a="http://schemas.openxmlformats.org/drawingml/2006/main">
            <a:r>
              <a:t>- Panel A glass-slide icon: Servier Medical Art via BioIcons, CC BY 3.0.</a:t>
            </a:r>
          </a:p>
          <a:p xmlns:a="http://schemas.openxmlformats.org/drawingml/2006/main">
            <a:r>
              <a:t>- Panel D model-layers and neural-network-1 icons: Simon Dürr via BioIcons, CC0.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8be29471917f49c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789c578175e64697" Type="http://schemas.openxmlformats.org/officeDocument/2006/relationships/theme" Target="theme/theme2.xml"/><Relationship Id="Rb47b7991eec64c59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7b7991eec64c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ddf264fd27e4ff9" Type="http://schemas.openxmlformats.org/officeDocument/2006/relationships/slideLayout" Target="../slideLayouts/slideLayout1.xml"/><Relationship Id="R4eee34b9a82a4a91" Type="http://schemas.openxmlformats.org/officeDocument/2006/relationships/image" Target="../media/image4.svg"/><Relationship Id="R5fdccc6919674c5a" Type="http://schemas.openxmlformats.org/officeDocument/2006/relationships/image" Target="../media/image2.svg"/><Relationship Id="R8725660bb4114d3d" Type="http://schemas.openxmlformats.org/officeDocument/2006/relationships/image" Target="../media/image3.png"/><Relationship Id="Rac48f225c33b4c05" Type="http://schemas.openxmlformats.org/officeDocument/2006/relationships/image" Target="../media/image.png"/><Relationship Id="Rb58b6f1363964a1e" Type="http://schemas.openxmlformats.org/officeDocument/2006/relationships/image" Target="../media/image.svg"/><Relationship Id="Rbc603888298f4f53" Type="http://schemas.openxmlformats.org/officeDocument/2006/relationships/image" Target="../media/image3.svg"/><Relationship Id="Rbd1ba69456434dda" Type="http://schemas.openxmlformats.org/officeDocument/2006/relationships/image" Target="../media/image4.png"/><Relationship Id="Rd0147303f6534e65" Type="http://schemas.openxmlformats.org/officeDocument/2006/relationships/image" Target="../media/image2.png"/><Relationship Id="Re490678a7584485c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15C9D18F-FB17-48DF-8454-8E7A10F9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924175"/>
            <a:ext cx="2190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5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03015-D270-476E-B50E-FD149A94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24175"/>
            <a:ext cx="2190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5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232B7-14C3-446B-9D96-57815335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24175"/>
            <a:ext cx="2190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5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ABDA5-927D-4409-86F7-C048738C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24175"/>
            <a:ext cx="2190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5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A5F9F-9A21-4A51-BA6E-A7722B7C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2095500" cy="55816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4ED"/>
          </a:solidFill>
          <a:ln xmlns:a="http://schemas.openxmlformats.org/drawingml/2006/main" w="11430">
            <a:solidFill>
              <a:srgbClr val="81838A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36906-A8F0-42C2-830A-A27F7EC7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7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AA235-B468-42D1-892F-4DB53C4B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B63FD4-7635-4D3B-AFAC-BA21B9D4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4343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34343B"/>
                </a:solidFill>
                <a:latin typeface="Calibri"/>
                <a:ea typeface="Calibri"/>
                <a:cs typeface="Calibri"/>
              </a:rPr>
              <a:t>Public dataset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EADCC-F46A-43A1-80F1-7C8CA80B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66700"/>
            <a:ext cx="2047875" cy="55816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EF5F9"/>
          </a:solidFill>
          <a:ln xmlns:a="http://schemas.openxmlformats.org/drawingml/2006/main" w="11430">
            <a:solidFill>
              <a:srgbClr val="81838A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2BB92-7809-4C53-95A8-183AB910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00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A9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0ED15-9CC0-4144-A8CD-AEE1CEF9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9052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379F6-E878-4CAB-B9D4-9762B492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8100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4343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34343B"/>
                </a:solidFill>
                <a:latin typeface="Calibri"/>
                <a:ea typeface="Calibri"/>
                <a:cs typeface="Calibri"/>
              </a:rPr>
              <a:t>Frozen cohorts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2752E5-F8DB-4BBC-AA8E-15B95058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66700"/>
            <a:ext cx="1724025" cy="5581650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2EFF8"/>
          </a:solidFill>
          <a:ln xmlns:a="http://schemas.openxmlformats.org/drawingml/2006/main" w="11430">
            <a:solidFill>
              <a:srgbClr val="81838A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54B29C-729F-43C7-9664-E2FB7249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0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8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14D7F6-0930-4B04-99F6-28813805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052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AE330-1CE3-492B-9D27-44B48C8C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81000"/>
            <a:ext cx="1133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4343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34343B"/>
                </a:solidFill>
                <a:latin typeface="Calibri"/>
                <a:ea typeface="Calibri"/>
                <a:cs typeface="Calibri"/>
              </a:rPr>
              <a:t>Feature encoding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EC67C7-AE24-4A6C-B51E-82CBDB62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66700"/>
            <a:ext cx="2276475" cy="5581650"/>
          </a:xfrm>
          <a:prstGeom xmlns:a="http://schemas.openxmlformats.org/drawingml/2006/main" prst="roundRect">
            <a:avLst>
              <a:gd name="adj" fmla="val 3347"/>
            </a:avLst>
          </a:prstGeom>
          <a:solidFill xmlns:a="http://schemas.openxmlformats.org/drawingml/2006/main">
            <a:srgbClr val="FAEFF5"/>
          </a:solidFill>
          <a:ln xmlns:a="http://schemas.openxmlformats.org/drawingml/2006/main" w="11430">
            <a:solidFill>
              <a:srgbClr val="81838A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8E694A-C4EA-42D9-A5A7-AF068474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0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7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22DEFD-D345-4ABC-B55D-56E6261A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052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4799CF-11C2-4B1E-985B-2B875EE3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81000"/>
            <a:ext cx="168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4343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34343B"/>
                </a:solidFill>
                <a:latin typeface="Calibri"/>
                <a:ea typeface="Calibri"/>
                <a:cs typeface="Calibri"/>
              </a:rPr>
              <a:t>Model selection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7F2CB9-F47F-4F57-8E40-33B13283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66700"/>
            <a:ext cx="2409825" cy="5581650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FF6F2"/>
          </a:solidFill>
          <a:ln xmlns:a="http://schemas.openxmlformats.org/drawingml/2006/main" w="11430">
            <a:solidFill>
              <a:srgbClr val="81838A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DBE12F-4A3B-4229-A948-230360A7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00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B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4D5729-AE3C-4624-A2D2-A7102311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9052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2CB9AC-0C60-42BF-BB70-24DF3186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81000"/>
            <a:ext cx="1819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4343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34343B"/>
                </a:solidFill>
                <a:latin typeface="Calibri"/>
                <a:ea typeface="Calibri"/>
                <a:cs typeface="Calibri"/>
              </a:rPr>
              <a:t>Validation &amp; insight</a:t>
            </a:r>
          </a:p>
        </p:txBody>
      </p:sp>
      <p:sp>
        <p:nvSpPr>
          <p:cNvPr id="291" name="a-anchor-composition">
            <a:extLst xmlns:a="http://schemas.openxmlformats.org/drawingml/2006/main">
              <a:ext uri="{FF2B5EF4-FFF2-40B4-BE49-F238E27FC236}">
                <a16:creationId xmlns:a16="http://schemas.microsoft.com/office/drawing/2014/main" id="{5A29A29F-5747-4510-84CE-848FDC68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04950"/>
            <a:ext cx="1581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2" name="a-anchor-assay">
            <a:extLst xmlns:a="http://schemas.openxmlformats.org/drawingml/2006/main">
              <a:ext uri="{FF2B5EF4-FFF2-40B4-BE49-F238E27FC236}">
                <a16:creationId xmlns:a16="http://schemas.microsoft.com/office/drawing/2014/main" id="{2E6DC2C0-22F3-4039-B0BF-AC9B617A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333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36" name=""/>
          <p:cNvCxnSpPr>
            <a:stCxn xmlns:a="http://schemas.openxmlformats.org/drawingml/2006/main" id="291" idx="2"/>
            <a:endCxn xmlns:a="http://schemas.openxmlformats.org/drawingml/2006/main" id="292" idx="0"/>
          </p:cNvCxnSpPr>
          <p:nvPr/>
        </p:nvCxnSpPr>
        <p:spPr>
          <a:xfrm xmlns:a="http://schemas.openxmlformats.org/drawingml/2006/main">
            <a:off x="1314450" y="24193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487A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94" name="b-anchor-time-start">
            <a:extLst xmlns:a="http://schemas.openxmlformats.org/drawingml/2006/main">
              <a:ext uri="{FF2B5EF4-FFF2-40B4-BE49-F238E27FC236}">
                <a16:creationId xmlns:a16="http://schemas.microsoft.com/office/drawing/2014/main" id="{91539888-E865-4ABF-AD23-8058B358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562100"/>
            <a:ext cx="47625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5" name="b-anchor-time-end">
            <a:extLst xmlns:a="http://schemas.openxmlformats.org/drawingml/2006/main">
              <a:ext uri="{FF2B5EF4-FFF2-40B4-BE49-F238E27FC236}">
                <a16:creationId xmlns:a16="http://schemas.microsoft.com/office/drawing/2014/main" id="{7676037D-77D0-4368-B052-FB28E47A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562100"/>
            <a:ext cx="47625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39" name=""/>
          <p:cNvCxnSpPr>
            <a:stCxn xmlns:a="http://schemas.openxmlformats.org/drawingml/2006/main" id="294" idx="3"/>
            <a:endCxn xmlns:a="http://schemas.openxmlformats.org/drawingml/2006/main" id="295" idx="1"/>
          </p:cNvCxnSpPr>
          <p:nvPr/>
        </p:nvCxnSpPr>
        <p:spPr>
          <a:xfrm xmlns:a="http://schemas.openxmlformats.org/drawingml/2006/main">
            <a:off x="2914650" y="1585913"/>
            <a:ext cx="14954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5A9C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97" name="d-anchor-cv">
            <a:extLst xmlns:a="http://schemas.openxmlformats.org/drawingml/2006/main">
              <a:ext uri="{FF2B5EF4-FFF2-40B4-BE49-F238E27FC236}">
                <a16:creationId xmlns:a16="http://schemas.microsoft.com/office/drawing/2014/main" id="{64704373-7CF6-45DF-8159-7170B5C6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00150"/>
            <a:ext cx="1314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8" name="d-anchor-prune">
            <a:extLst xmlns:a="http://schemas.openxmlformats.org/drawingml/2006/main">
              <a:ext uri="{FF2B5EF4-FFF2-40B4-BE49-F238E27FC236}">
                <a16:creationId xmlns:a16="http://schemas.microsoft.com/office/drawing/2014/main" id="{1301BD18-E575-46E7-9B5C-D714A355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76525"/>
            <a:ext cx="714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9" name="d-anchor-freeze">
            <a:extLst xmlns:a="http://schemas.openxmlformats.org/drawingml/2006/main">
              <a:ext uri="{FF2B5EF4-FFF2-40B4-BE49-F238E27FC236}">
                <a16:creationId xmlns:a16="http://schemas.microsoft.com/office/drawing/2014/main" id="{47E0B445-E264-4B02-9B16-90DFE33E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91000"/>
            <a:ext cx="123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3" name=""/>
          <p:cNvCxnSpPr>
            <a:stCxn xmlns:a="http://schemas.openxmlformats.org/drawingml/2006/main" id="297" idx="2"/>
            <a:endCxn xmlns:a="http://schemas.openxmlformats.org/drawingml/2006/main" id="298" idx="0"/>
          </p:cNvCxnSpPr>
          <p:nvPr/>
        </p:nvCxnSpPr>
        <p:spPr>
          <a:xfrm xmlns:a="http://schemas.openxmlformats.org/drawingml/2006/main" flipH="1">
            <a:off x="8101013" y="2343150"/>
            <a:ext cx="4763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A5A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44" name=""/>
          <p:cNvCxnSpPr>
            <a:stCxn xmlns:a="http://schemas.openxmlformats.org/drawingml/2006/main" id="298" idx="2"/>
            <a:endCxn xmlns:a="http://schemas.openxmlformats.org/drawingml/2006/main" id="299" idx="0"/>
          </p:cNvCxnSpPr>
          <p:nvPr/>
        </p:nvCxnSpPr>
        <p:spPr>
          <a:xfrm xmlns:a="http://schemas.openxmlformats.org/drawingml/2006/main">
            <a:off x="8101013" y="3848100"/>
            <a:ext cx="4763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A5AB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02" name="e-anchor-inputs">
            <a:extLst xmlns:a="http://schemas.openxmlformats.org/drawingml/2006/main">
              <a:ext uri="{FF2B5EF4-FFF2-40B4-BE49-F238E27FC236}">
                <a16:creationId xmlns:a16="http://schemas.microsoft.com/office/drawing/2014/main" id="{CEB4C7D7-72B9-4C25-A106-C400DC3B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162050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3" name="e-anchor-metrics">
            <a:extLst xmlns:a="http://schemas.openxmlformats.org/drawingml/2006/main">
              <a:ext uri="{FF2B5EF4-FFF2-40B4-BE49-F238E27FC236}">
                <a16:creationId xmlns:a16="http://schemas.microsoft.com/office/drawing/2014/main" id="{26B2A6FB-085D-413E-B055-C9B3B39A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33625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4" name="e-anchor-ranking">
            <a:extLst xmlns:a="http://schemas.openxmlformats.org/drawingml/2006/main">
              <a:ext uri="{FF2B5EF4-FFF2-40B4-BE49-F238E27FC236}">
                <a16:creationId xmlns:a16="http://schemas.microsoft.com/office/drawing/2014/main" id="{3176F5C4-60EA-4248-AE22-93651B6F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909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5" name="e-anchor-importance">
            <a:extLst xmlns:a="http://schemas.openxmlformats.org/drawingml/2006/main">
              <a:ext uri="{FF2B5EF4-FFF2-40B4-BE49-F238E27FC236}">
                <a16:creationId xmlns:a16="http://schemas.microsoft.com/office/drawing/2014/main" id="{AECBD5F4-913A-482D-8185-95A54E18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29150"/>
            <a:ext cx="2019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9" name=""/>
          <p:cNvCxnSpPr>
            <a:stCxn xmlns:a="http://schemas.openxmlformats.org/drawingml/2006/main" id="302" idx="2"/>
            <a:endCxn xmlns:a="http://schemas.openxmlformats.org/drawingml/2006/main" id="303" idx="0"/>
          </p:cNvCxnSpPr>
          <p:nvPr/>
        </p:nvCxnSpPr>
        <p:spPr>
          <a:xfrm xmlns:a="http://schemas.openxmlformats.org/drawingml/2006/main">
            <a:off x="10725150" y="19050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A5A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50" name=""/>
          <p:cNvCxnSpPr>
            <a:stCxn xmlns:a="http://schemas.openxmlformats.org/drawingml/2006/main" id="303" idx="2"/>
            <a:endCxn xmlns:a="http://schemas.openxmlformats.org/drawingml/2006/main" id="304" idx="0"/>
          </p:cNvCxnSpPr>
          <p:nvPr/>
        </p:nvCxnSpPr>
        <p:spPr>
          <a:xfrm xmlns:a="http://schemas.openxmlformats.org/drawingml/2006/main">
            <a:off x="10725150" y="2943225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8B6A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51" name=""/>
          <p:cNvCxnSpPr>
            <a:stCxn xmlns:a="http://schemas.openxmlformats.org/drawingml/2006/main" id="304" idx="2"/>
            <a:endCxn xmlns:a="http://schemas.openxmlformats.org/drawingml/2006/main" id="305" idx="0"/>
          </p:cNvCxnSpPr>
          <p:nvPr/>
        </p:nvCxnSpPr>
        <p:spPr>
          <a:xfrm xmlns:a="http://schemas.openxmlformats.org/drawingml/2006/main">
            <a:off x="10725150" y="422910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A86BE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09" name="feedback-anchor-a">
            <a:extLst xmlns:a="http://schemas.openxmlformats.org/drawingml/2006/main">
              <a:ext uri="{FF2B5EF4-FFF2-40B4-BE49-F238E27FC236}">
                <a16:creationId xmlns:a16="http://schemas.microsoft.com/office/drawing/2014/main" id="{D7ADEB90-3B78-4292-A9D4-B10D325D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388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0" name="feedback-anchor-e">
            <a:extLst xmlns:a="http://schemas.openxmlformats.org/drawingml/2006/main">
              <a:ext uri="{FF2B5EF4-FFF2-40B4-BE49-F238E27FC236}">
                <a16:creationId xmlns:a16="http://schemas.microsoft.com/office/drawing/2014/main" id="{EF077112-00C6-480A-B933-DACC09C5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6388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1" name="feedback-anchor-box">
            <a:extLst xmlns:a="http://schemas.openxmlformats.org/drawingml/2006/main">
              <a:ext uri="{FF2B5EF4-FFF2-40B4-BE49-F238E27FC236}">
                <a16:creationId xmlns:a16="http://schemas.microsoft.com/office/drawing/2014/main" id="{A34754E9-6A83-4D79-8F7B-7520F919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0769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55" name=""/>
          <p:cNvCxnSpPr>
            <a:stCxn xmlns:a="http://schemas.openxmlformats.org/drawingml/2006/main" id="310" idx="2"/>
            <a:endCxn xmlns:a="http://schemas.openxmlformats.org/drawingml/2006/main" id="311" idx="3"/>
          </p:cNvCxnSpPr>
          <p:nvPr/>
        </p:nvCxnSpPr>
        <p:spPr>
          <a:xfrm xmlns:a="http://schemas.openxmlformats.org/drawingml/2006/main" flipH="1">
            <a:off x="8420100" y="5810250"/>
            <a:ext cx="2828925" cy="428625"/>
          </a:xfrm>
          <a:prstGeom xmlns:a="http://schemas.openxmlformats.org/drawingml/2006/main" prst="bentConnector5">
            <a:avLst>
              <a:gd name="adj1" fmla="val 0"/>
              <a:gd name="adj2" fmla="val 53333"/>
              <a:gd name="adj3" fmla="val 91919"/>
            </a:avLst>
          </a:prstGeom>
          <a:ln xmlns:a="http://schemas.openxmlformats.org/drawingml/2006/main" w="14288">
            <a:solidFill>
              <a:srgbClr val="88B6A5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456" name=""/>
          <p:cNvCxnSpPr>
            <a:stCxn xmlns:a="http://schemas.openxmlformats.org/drawingml/2006/main" id="311" idx="1"/>
            <a:endCxn xmlns:a="http://schemas.openxmlformats.org/drawingml/2006/main" id="309" idx="2"/>
          </p:cNvCxnSpPr>
          <p:nvPr/>
        </p:nvCxnSpPr>
        <p:spPr>
          <a:xfrm xmlns:a="http://schemas.openxmlformats.org/drawingml/2006/main" flipH="1" flipV="1">
            <a:off x="1190625" y="5810250"/>
            <a:ext cx="2581275" cy="428625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88B6A5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314" name="a-count">
            <a:extLst xmlns:a="http://schemas.openxmlformats.org/drawingml/2006/main">
              <a:ext uri="{FF2B5EF4-FFF2-40B4-BE49-F238E27FC236}">
                <a16:creationId xmlns:a16="http://schemas.microsoft.com/office/drawing/2014/main" id="{AB957FB5-406D-471D-AFB1-E87CE74E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5E86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A95E86"/>
                </a:solidFill>
                <a:latin typeface="Calibri"/>
                <a:ea typeface="Calibri"/>
                <a:cs typeface="Calibri"/>
              </a:rPr>
              <a:t>341 formulations</a:t>
            </a:r>
          </a:p>
        </p:txBody>
      </p:sp>
      <p:sp>
        <p:nvSpPr>
          <p:cNvPr id="315" name="a-monomer-0">
            <a:extLst xmlns:a="http://schemas.openxmlformats.org/drawingml/2006/main">
              <a:ext uri="{FF2B5EF4-FFF2-40B4-BE49-F238E27FC236}">
                <a16:creationId xmlns:a16="http://schemas.microsoft.com/office/drawing/2014/main" id="{0758997C-08EB-44B1-B3C0-1C532F18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90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7AD"/>
          </a:solidFill>
          <a:ln xmlns:a="http://schemas.openxmlformats.org/drawingml/2006/main" w="0">
            <a:solidFill>
              <a:srgbClr val="D487AD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HEA</a:t>
            </a:r>
          </a:p>
        </p:txBody>
      </p:sp>
      <p:sp>
        <p:nvSpPr>
          <p:cNvPr id="316" name="a-monomer-1">
            <a:extLst xmlns:a="http://schemas.openxmlformats.org/drawingml/2006/main">
              <a:ext uri="{FF2B5EF4-FFF2-40B4-BE49-F238E27FC236}">
                <a16:creationId xmlns:a16="http://schemas.microsoft.com/office/drawing/2014/main" id="{8834B87A-9F64-47F1-828B-BAC2D11F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590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A9C8"/>
          </a:solidFill>
          <a:ln xmlns:a="http://schemas.openxmlformats.org/drawingml/2006/main" w="0">
            <a:solidFill>
              <a:srgbClr val="75A9C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</a:t>
            </a:r>
          </a:p>
        </p:txBody>
      </p:sp>
      <p:sp>
        <p:nvSpPr>
          <p:cNvPr id="317" name="a-monomer-2">
            <a:extLst xmlns:a="http://schemas.openxmlformats.org/drawingml/2006/main">
              <a:ext uri="{FF2B5EF4-FFF2-40B4-BE49-F238E27FC236}">
                <a16:creationId xmlns:a16="http://schemas.microsoft.com/office/drawing/2014/main" id="{4A58CD4E-448B-4A4E-BBCD-BCD172E4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590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B6A5"/>
          </a:solidFill>
          <a:ln xmlns:a="http://schemas.openxmlformats.org/drawingml/2006/main" w="0">
            <a:solidFill>
              <a:srgbClr val="88B6A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CB</a:t>
            </a:r>
          </a:p>
        </p:txBody>
      </p:sp>
      <p:sp>
        <p:nvSpPr>
          <p:cNvPr id="318" name="a-monomer-3">
            <a:extLst xmlns:a="http://schemas.openxmlformats.org/drawingml/2006/main">
              <a:ext uri="{FF2B5EF4-FFF2-40B4-BE49-F238E27FC236}">
                <a16:creationId xmlns:a16="http://schemas.microsoft.com/office/drawing/2014/main" id="{EAE7307B-E614-46D2-B5D0-01F6F30E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86BE"/>
          </a:solidFill>
          <a:ln xmlns:a="http://schemas.openxmlformats.org/drawingml/2006/main" w="0">
            <a:solidFill>
              <a:srgbClr val="9A86B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</a:t>
            </a:r>
          </a:p>
        </p:txBody>
      </p:sp>
      <p:sp>
        <p:nvSpPr>
          <p:cNvPr id="319" name="a-monomer-4">
            <a:extLst xmlns:a="http://schemas.openxmlformats.org/drawingml/2006/main">
              <a:ext uri="{FF2B5EF4-FFF2-40B4-BE49-F238E27FC236}">
                <a16:creationId xmlns:a16="http://schemas.microsoft.com/office/drawing/2014/main" id="{EBAC829F-B202-4065-96D2-4B37A2F3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047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E66"/>
          </a:solidFill>
          <a:ln xmlns:a="http://schemas.openxmlformats.org/drawingml/2006/main" w="0">
            <a:solidFill>
              <a:srgbClr val="D7AE6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PEA</a:t>
            </a:r>
          </a:p>
        </p:txBody>
      </p:sp>
      <p:sp>
        <p:nvSpPr>
          <p:cNvPr id="320" name="a-monomer-5">
            <a:extLst xmlns:a="http://schemas.openxmlformats.org/drawingml/2006/main">
              <a:ext uri="{FF2B5EF4-FFF2-40B4-BE49-F238E27FC236}">
                <a16:creationId xmlns:a16="http://schemas.microsoft.com/office/drawing/2014/main" id="{9F12F623-E8E5-4210-B0C9-3283E9F2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47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5E86"/>
          </a:solidFill>
          <a:ln xmlns:a="http://schemas.openxmlformats.org/drawingml/2006/main" w="0">
            <a:solidFill>
              <a:srgbClr val="A95E8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AAm</a:t>
            </a:r>
          </a:p>
        </p:txBody>
      </p:sp>
      <p:sp>
        <p:nvSpPr>
          <p:cNvPr id="321" name="a-simplex">
            <a:extLst xmlns:a="http://schemas.openxmlformats.org/drawingml/2006/main">
              <a:ext uri="{FF2B5EF4-FFF2-40B4-BE49-F238E27FC236}">
                <a16:creationId xmlns:a16="http://schemas.microsoft.com/office/drawing/2014/main" id="{43A88E71-038D-4CF6-8D5E-54D10C2F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3812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5B99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715B99"/>
                </a:solidFill>
                <a:latin typeface="Calibri"/>
                <a:ea typeface="Calibri"/>
                <a:cs typeface="Calibri"/>
              </a:rPr>
              <a:t>x ∈ S⁵   ·   Σxᵢ = 1</a:t>
            </a:r>
          </a:p>
        </p:txBody>
      </p:sp>
      <p:sp>
        <p:nvSpPr>
          <p:cNvPr id="322" name="a-assay-backdrop">
            <a:extLst xmlns:a="http://schemas.openxmlformats.org/drawingml/2006/main">
              <a:ext uri="{FF2B5EF4-FFF2-40B4-BE49-F238E27FC236}">
                <a16:creationId xmlns:a16="http://schemas.microsoft.com/office/drawing/2014/main" id="{96BC6DFC-8A6B-4B32-940C-470F0E2B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333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F5F9"/>
          </a:solidFill>
          <a:ln xmlns:a="http://schemas.openxmlformats.org/drawingml/2006/main" w="7620">
            <a:solidFill>
              <a:srgbClr val="75A9C8"/>
            </a:solidFill>
            <a:prstDash val="solid"/>
          </a:ln>
        </p:spPr>
      </p:sp>
      <p:sp>
        <p:nvSpPr>
          <p:cNvPr id="323" name="a-saline-bath">
            <a:extLst xmlns:a="http://schemas.openxmlformats.org/drawingml/2006/main">
              <a:ext uri="{FF2B5EF4-FFF2-40B4-BE49-F238E27FC236}">
                <a16:creationId xmlns:a16="http://schemas.microsoft.com/office/drawing/2014/main" id="{18EDDC75-0F26-4AF5-A799-1F1A0F1E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75A9C8"/>
            </a:solidFill>
            <a:prstDash val="solid"/>
          </a:ln>
        </p:spPr>
      </p:sp>
      <p:sp>
        <p:nvSpPr>
          <p:cNvPr id="324" name="a-saline-fill">
            <a:extLst xmlns:a="http://schemas.openxmlformats.org/drawingml/2006/main">
              <a:ext uri="{FF2B5EF4-FFF2-40B4-BE49-F238E27FC236}">
                <a16:creationId xmlns:a16="http://schemas.microsoft.com/office/drawing/2014/main" id="{ADA55F3B-1F01-42BE-B3B9-1F875B02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67075"/>
            <a:ext cx="11620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6"/>
          </a:solidFill>
          <a:ln xmlns:a="http://schemas.openxmlformats.org/drawingml/2006/main" w="0">
            <a:solidFill>
              <a:srgbClr val="DDEFF6"/>
            </a:solidFill>
            <a:prstDash val="solid"/>
          </a:ln>
        </p:spPr>
      </p:sp>
      <p:sp>
        <p:nvSpPr>
          <p:cNvPr id="325" name="a-probe-rod">
            <a:extLst xmlns:a="http://schemas.openxmlformats.org/drawingml/2006/main">
              <a:ext uri="{FF2B5EF4-FFF2-40B4-BE49-F238E27FC236}">
                <a16:creationId xmlns:a16="http://schemas.microsoft.com/office/drawing/2014/main" id="{8A207211-E056-41DA-9FB6-C8B8CD0C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47975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5AB"/>
          </a:solidFill>
          <a:ln xmlns:a="http://schemas.openxmlformats.org/drawingml/2006/main" w="0">
            <a:solidFill>
              <a:srgbClr val="A9A5AB"/>
            </a:solidFill>
            <a:prstDash val="solid"/>
          </a:ln>
        </p:spPr>
      </p:sp>
      <p:sp>
        <p:nvSpPr>
          <p:cNvPr id="326" name="a-probe-head">
            <a:extLst xmlns:a="http://schemas.openxmlformats.org/drawingml/2006/main">
              <a:ext uri="{FF2B5EF4-FFF2-40B4-BE49-F238E27FC236}">
                <a16:creationId xmlns:a16="http://schemas.microsoft.com/office/drawing/2014/main" id="{F18F4475-3E81-48B1-8C08-19C5D4C5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3048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A5AB"/>
          </a:solidFill>
          <a:ln xmlns:a="http://schemas.openxmlformats.org/drawingml/2006/main" w="0">
            <a:solidFill>
              <a:srgbClr val="A9A5AB"/>
            </a:solidFill>
            <a:prstDash val="solid"/>
          </a:ln>
        </p:spPr>
      </p:sp>
      <p:pic>
        <p:nvPicPr>
          <p:cNvPr id="470" name="a-hydroge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8f225c33b4c05">
            <a:extLst>
              <a:ext uri="{96DAC541-7B7A-43D3-8B79-37D633B846F1}">
                <asvg:svgBlip xmlns:asvg="http://schemas.microsoft.com/office/drawing/2016/SVG/main" r:embed="Rb58b6f1363964a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95375" y="3419475"/>
            <a:ext cx="438150" cy="209550"/>
          </a:xfrm>
          <a:prstGeom xmlns:a="http://schemas.openxmlformats.org/drawingml/2006/main" prst="rect">
            <a:avLst/>
          </a:prstGeom>
        </p:spPr>
      </p:pic>
      <p:pic>
        <p:nvPicPr>
          <p:cNvPr id="471" name="a-glass-slid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47303f6534e65">
            <a:extLst>
              <a:ext uri="{96DAC541-7B7A-43D3-8B79-37D633B846F1}">
                <asvg:svgBlip xmlns:asvg="http://schemas.microsoft.com/office/drawing/2016/SVG/main" r:embed="R5fdccc6919674c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3695700"/>
            <a:ext cx="952500" cy="123825"/>
          </a:xfrm>
          <a:prstGeom xmlns:a="http://schemas.openxmlformats.org/drawingml/2006/main" prst="rect">
            <a:avLst/>
          </a:prstGeom>
        </p:spPr>
      </p:pic>
      <p:sp>
        <p:nvSpPr>
          <p:cNvPr id="329" name="a-test-condition">
            <a:extLst xmlns:a="http://schemas.openxmlformats.org/drawingml/2006/main">
              <a:ext uri="{FF2B5EF4-FFF2-40B4-BE49-F238E27FC236}">
                <a16:creationId xmlns:a16="http://schemas.microsoft.com/office/drawing/2014/main" id="{65440934-F5C2-40C1-86B1-0DD7FD86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8670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A95E86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A95E86"/>
                </a:solidFill>
                <a:latin typeface="Calibri"/>
                <a:ea typeface="Calibri"/>
                <a:cs typeface="Calibri"/>
              </a:rPr>
              <a:t>10 N · 10 s</a:t>
            </a:r>
          </a:p>
        </p:txBody>
      </p:sp>
      <p:sp>
        <p:nvSpPr>
          <p:cNvPr id="330" name="a-saline-label">
            <a:extLst xmlns:a="http://schemas.openxmlformats.org/drawingml/2006/main">
              <a:ext uri="{FF2B5EF4-FFF2-40B4-BE49-F238E27FC236}">
                <a16:creationId xmlns:a16="http://schemas.microsoft.com/office/drawing/2014/main" id="{45409FB9-6768-4527-A396-B9F7C509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E7F9D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4E7F9D"/>
                </a:solidFill>
                <a:latin typeface="Calibri"/>
                <a:ea typeface="Calibri"/>
                <a:cs typeface="Calibri"/>
              </a:rPr>
              <a:t>Normal saline</a:t>
            </a:r>
          </a:p>
        </p:txBody>
      </p:sp>
      <p:sp>
        <p:nvSpPr>
          <p:cNvPr id="331" name="a-assay-label">
            <a:extLst xmlns:a="http://schemas.openxmlformats.org/drawingml/2006/main">
              <a:ext uri="{FF2B5EF4-FFF2-40B4-BE49-F238E27FC236}">
                <a16:creationId xmlns:a16="http://schemas.microsoft.com/office/drawing/2014/main" id="{4AF30E15-A712-40B6-AA88-AF3E1B3B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719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7F9D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4E7F9D"/>
                </a:solidFill>
                <a:latin typeface="Calibri"/>
                <a:ea typeface="Calibri"/>
                <a:cs typeface="Calibri"/>
              </a:rPr>
              <a:t>Tack test · Glass (kPa)</a:t>
            </a:r>
          </a:p>
        </p:txBody>
      </p:sp>
      <p:sp>
        <p:nvSpPr>
          <p:cNvPr id="332" name="a-keyword-1">
            <a:extLst xmlns:a="http://schemas.openxmlformats.org/drawingml/2006/main">
              <a:ext uri="{FF2B5EF4-FFF2-40B4-BE49-F238E27FC236}">
                <a16:creationId xmlns:a16="http://schemas.microsoft.com/office/drawing/2014/main" id="{D56DD97E-D3A7-4A62-9996-80468B87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704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87AD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A95E86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A95E86"/>
                </a:solidFill>
                <a:latin typeface="Calibri"/>
                <a:ea typeface="Calibri"/>
                <a:cs typeface="Calibri"/>
              </a:rPr>
              <a:t>6 fractions</a:t>
            </a:r>
          </a:p>
        </p:txBody>
      </p:sp>
      <p:sp>
        <p:nvSpPr>
          <p:cNvPr id="333" name="a-keyword-2">
            <a:extLst xmlns:a="http://schemas.openxmlformats.org/drawingml/2006/main">
              <a:ext uri="{FF2B5EF4-FFF2-40B4-BE49-F238E27FC236}">
                <a16:creationId xmlns:a16="http://schemas.microsoft.com/office/drawing/2014/main" id="{D55D7930-EB8C-4023-A52C-B15AF23C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686300"/>
            <a:ext cx="723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5A9C8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E7F9D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4E7F9D"/>
                </a:solidFill>
                <a:latin typeface="Calibri"/>
                <a:ea typeface="Calibri"/>
                <a:cs typeface="Calibri"/>
              </a:rPr>
              <a:t>1 target</a:t>
            </a:r>
          </a:p>
        </p:txBody>
      </p:sp>
      <p:sp>
        <p:nvSpPr>
          <p:cNvPr id="334" name="b-order-label">
            <a:extLst xmlns:a="http://schemas.openxmlformats.org/drawingml/2006/main">
              <a:ext uri="{FF2B5EF4-FFF2-40B4-BE49-F238E27FC236}">
                <a16:creationId xmlns:a16="http://schemas.microsoft.com/office/drawing/2014/main" id="{F9E9431D-8CF5-4B43-A970-766AA7D1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028700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E7F9D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4E7F9D"/>
                </a:solidFill>
                <a:latin typeface="Calibri"/>
                <a:ea typeface="Calibri"/>
                <a:cs typeface="Calibri"/>
              </a:rPr>
              <a:t>Chronological order</a:t>
            </a:r>
          </a:p>
        </p:txBody>
      </p:sp>
      <p:sp>
        <p:nvSpPr>
          <p:cNvPr id="335" name="b-internal-dot-0">
            <a:extLst xmlns:a="http://schemas.openxmlformats.org/drawingml/2006/main">
              <a:ext uri="{FF2B5EF4-FFF2-40B4-BE49-F238E27FC236}">
                <a16:creationId xmlns:a16="http://schemas.microsoft.com/office/drawing/2014/main" id="{54342AF3-4CD0-4ABA-A2ED-BD7A276F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4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7AD"/>
          </a:solidFill>
          <a:ln xmlns:a="http://schemas.openxmlformats.org/drawingml/2006/main" w="0">
            <a:solidFill>
              <a:srgbClr val="D487AD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6" name="b-internal-dot-1">
            <a:extLst xmlns:a="http://schemas.openxmlformats.org/drawingml/2006/main">
              <a:ext uri="{FF2B5EF4-FFF2-40B4-BE49-F238E27FC236}">
                <a16:creationId xmlns:a16="http://schemas.microsoft.com/office/drawing/2014/main" id="{2448986B-5F14-481D-898E-A13D6163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4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7AD"/>
          </a:solidFill>
          <a:ln xmlns:a="http://schemas.openxmlformats.org/drawingml/2006/main" w="0">
            <a:solidFill>
              <a:srgbClr val="D487AD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7" name="b-internal-dot-2">
            <a:extLst xmlns:a="http://schemas.openxmlformats.org/drawingml/2006/main">
              <a:ext uri="{FF2B5EF4-FFF2-40B4-BE49-F238E27FC236}">
                <a16:creationId xmlns:a16="http://schemas.microsoft.com/office/drawing/2014/main" id="{FFCC4916-4DCE-4C2F-9FB4-45F5F9C7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54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7AD"/>
          </a:solidFill>
          <a:ln xmlns:a="http://schemas.openxmlformats.org/drawingml/2006/main" w="0">
            <a:solidFill>
              <a:srgbClr val="D487AD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8" name="b-internal-dot-3">
            <a:extLst xmlns:a="http://schemas.openxmlformats.org/drawingml/2006/main">
              <a:ext uri="{FF2B5EF4-FFF2-40B4-BE49-F238E27FC236}">
                <a16:creationId xmlns:a16="http://schemas.microsoft.com/office/drawing/2014/main" id="{2F4AB002-8F53-4D59-8230-533C8B6D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54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7AD"/>
          </a:solidFill>
          <a:ln xmlns:a="http://schemas.openxmlformats.org/drawingml/2006/main" w="0">
            <a:solidFill>
              <a:srgbClr val="D487AD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9" name="b-internal-dot-4">
            <a:extLst xmlns:a="http://schemas.openxmlformats.org/drawingml/2006/main">
              <a:ext uri="{FF2B5EF4-FFF2-40B4-BE49-F238E27FC236}">
                <a16:creationId xmlns:a16="http://schemas.microsoft.com/office/drawing/2014/main" id="{4E80ECFE-D863-48DA-B9B6-7AD76775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54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7AD"/>
          </a:solidFill>
          <a:ln xmlns:a="http://schemas.openxmlformats.org/drawingml/2006/main" w="0">
            <a:solidFill>
              <a:srgbClr val="D487AD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0" name="b-internal-dot-5">
            <a:extLst xmlns:a="http://schemas.openxmlformats.org/drawingml/2006/main">
              <a:ext uri="{FF2B5EF4-FFF2-40B4-BE49-F238E27FC236}">
                <a16:creationId xmlns:a16="http://schemas.microsoft.com/office/drawing/2014/main" id="{35073163-DE62-465E-AE34-97B66643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4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7AD"/>
          </a:solidFill>
          <a:ln xmlns:a="http://schemas.openxmlformats.org/drawingml/2006/main" w="0">
            <a:solidFill>
              <a:srgbClr val="D487AD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1" name="b-internal-dot-6">
            <a:extLst xmlns:a="http://schemas.openxmlformats.org/drawingml/2006/main">
              <a:ext uri="{FF2B5EF4-FFF2-40B4-BE49-F238E27FC236}">
                <a16:creationId xmlns:a16="http://schemas.microsoft.com/office/drawing/2014/main" id="{D86CEE10-F8DE-41F7-9A7A-34ED2B12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4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7AD"/>
          </a:solidFill>
          <a:ln xmlns:a="http://schemas.openxmlformats.org/drawingml/2006/main" w="0">
            <a:solidFill>
              <a:srgbClr val="D487AD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2" name="b-internal-dot-7">
            <a:extLst xmlns:a="http://schemas.openxmlformats.org/drawingml/2006/main">
              <a:ext uri="{FF2B5EF4-FFF2-40B4-BE49-F238E27FC236}">
                <a16:creationId xmlns:a16="http://schemas.microsoft.com/office/drawing/2014/main" id="{C58DCF97-7C89-4FA2-B731-8F20FA9A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4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7AD"/>
          </a:solidFill>
          <a:ln xmlns:a="http://schemas.openxmlformats.org/drawingml/2006/main" w="0">
            <a:solidFill>
              <a:srgbClr val="D487AD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3" name="b-internal-dot-8">
            <a:extLst xmlns:a="http://schemas.openxmlformats.org/drawingml/2006/main">
              <a:ext uri="{FF2B5EF4-FFF2-40B4-BE49-F238E27FC236}">
                <a16:creationId xmlns:a16="http://schemas.microsoft.com/office/drawing/2014/main" id="{86C54BF5-8822-4BC3-9C1B-4B96BB8A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54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7AD"/>
          </a:solidFill>
          <a:ln xmlns:a="http://schemas.openxmlformats.org/drawingml/2006/main" w="0">
            <a:solidFill>
              <a:srgbClr val="D487AD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4" name="b-internal-dot-9">
            <a:extLst xmlns:a="http://schemas.openxmlformats.org/drawingml/2006/main">
              <a:ext uri="{FF2B5EF4-FFF2-40B4-BE49-F238E27FC236}">
                <a16:creationId xmlns:a16="http://schemas.microsoft.com/office/drawing/2014/main" id="{C4B0B15C-BF67-4C5C-A649-5BC3F71A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54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7AD"/>
          </a:solidFill>
          <a:ln xmlns:a="http://schemas.openxmlformats.org/drawingml/2006/main" w="0">
            <a:solidFill>
              <a:srgbClr val="D487AD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5" name="b-internal-dot-10">
            <a:extLst xmlns:a="http://schemas.openxmlformats.org/drawingml/2006/main">
              <a:ext uri="{FF2B5EF4-FFF2-40B4-BE49-F238E27FC236}">
                <a16:creationId xmlns:a16="http://schemas.microsoft.com/office/drawing/2014/main" id="{5EEBFF8E-4577-4B0B-A90E-A0E43986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4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7AD"/>
          </a:solidFill>
          <a:ln xmlns:a="http://schemas.openxmlformats.org/drawingml/2006/main" w="0">
            <a:solidFill>
              <a:srgbClr val="D487AD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6" name="b-heldout-dot-0">
            <a:extLst xmlns:a="http://schemas.openxmlformats.org/drawingml/2006/main">
              <a:ext uri="{FF2B5EF4-FFF2-40B4-BE49-F238E27FC236}">
                <a16:creationId xmlns:a16="http://schemas.microsoft.com/office/drawing/2014/main" id="{6F239D21-B993-41CC-95EC-4C3C8F6A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4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B6A5"/>
          </a:solidFill>
          <a:ln xmlns:a="http://schemas.openxmlformats.org/drawingml/2006/main" w="0">
            <a:solidFill>
              <a:srgbClr val="88B6A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7" name="b-heldout-dot-1">
            <a:extLst xmlns:a="http://schemas.openxmlformats.org/drawingml/2006/main">
              <a:ext uri="{FF2B5EF4-FFF2-40B4-BE49-F238E27FC236}">
                <a16:creationId xmlns:a16="http://schemas.microsoft.com/office/drawing/2014/main" id="{3AF8A805-4737-4BEE-94EC-3DE6B4A4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4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B6A5"/>
          </a:solidFill>
          <a:ln xmlns:a="http://schemas.openxmlformats.org/drawingml/2006/main" w="0">
            <a:solidFill>
              <a:srgbClr val="88B6A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8" name="b-heldout-dot-2">
            <a:extLst xmlns:a="http://schemas.openxmlformats.org/drawingml/2006/main">
              <a:ext uri="{FF2B5EF4-FFF2-40B4-BE49-F238E27FC236}">
                <a16:creationId xmlns:a16="http://schemas.microsoft.com/office/drawing/2014/main" id="{E01718C1-F613-4498-AD5B-AFF70B51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B6A5"/>
          </a:solidFill>
          <a:ln xmlns:a="http://schemas.openxmlformats.org/drawingml/2006/main" w="0">
            <a:solidFill>
              <a:srgbClr val="88B6A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9" name="b-freeze-line">
            <a:extLst xmlns:a="http://schemas.openxmlformats.org/drawingml/2006/main">
              <a:ext uri="{FF2B5EF4-FFF2-40B4-BE49-F238E27FC236}">
                <a16:creationId xmlns:a16="http://schemas.microsoft.com/office/drawing/2014/main" id="{5916844A-4688-453E-B93C-90F7DB92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304925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66"/>
          </a:solidFill>
          <a:ln xmlns:a="http://schemas.openxmlformats.org/drawingml/2006/main" w="0">
            <a:solidFill>
              <a:srgbClr val="D7AE66"/>
            </a:solidFill>
            <a:prstDash val="solid"/>
          </a:ln>
        </p:spPr>
      </p:sp>
      <p:sp>
        <p:nvSpPr>
          <p:cNvPr id="350" name="b-freeze-label">
            <a:extLst xmlns:a="http://schemas.openxmlformats.org/drawingml/2006/main">
              <a:ext uri="{FF2B5EF4-FFF2-40B4-BE49-F238E27FC236}">
                <a16:creationId xmlns:a16="http://schemas.microsoft.com/office/drawing/2014/main" id="{54C45C6B-B497-4930-BEE8-EDF60780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2096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A77A31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A77A31"/>
                </a:solidFill>
                <a:latin typeface="Calibri"/>
                <a:ea typeface="Calibri"/>
                <a:cs typeface="Calibri"/>
              </a:rPr>
              <a:t>Freeze</a:t>
            </a:r>
          </a:p>
        </p:txBody>
      </p:sp>
      <p:sp>
        <p:nvSpPr>
          <p:cNvPr id="351" name="b-total-small">
            <a:extLst xmlns:a="http://schemas.openxmlformats.org/drawingml/2006/main">
              <a:ext uri="{FF2B5EF4-FFF2-40B4-BE49-F238E27FC236}">
                <a16:creationId xmlns:a16="http://schemas.microsoft.com/office/drawing/2014/main" id="{911F8EB6-02A6-4547-A05C-D234B346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1927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7F9D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4E7F9D"/>
                </a:solidFill>
                <a:latin typeface="Calibri"/>
                <a:ea typeface="Calibri"/>
                <a:cs typeface="Calibri"/>
              </a:rPr>
              <a:t>341 total</a:t>
            </a:r>
          </a:p>
        </p:txBody>
      </p:sp>
      <p:sp>
        <p:nvSpPr>
          <p:cNvPr id="352" name="b-internal-band">
            <a:extLst xmlns:a="http://schemas.openxmlformats.org/drawingml/2006/main">
              <a:ext uri="{FF2B5EF4-FFF2-40B4-BE49-F238E27FC236}">
                <a16:creationId xmlns:a16="http://schemas.microsoft.com/office/drawing/2014/main" id="{F2EDCF55-F489-475E-B350-832F3434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1714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87AD"/>
            </a:solidFill>
            <a:prstDash val="solid"/>
          </a:ln>
        </p:spPr>
      </p:sp>
      <p:sp>
        <p:nvSpPr>
          <p:cNvPr id="353" name="b-internal-stripe">
            <a:extLst xmlns:a="http://schemas.openxmlformats.org/drawingml/2006/main">
              <a:ext uri="{FF2B5EF4-FFF2-40B4-BE49-F238E27FC236}">
                <a16:creationId xmlns:a16="http://schemas.microsoft.com/office/drawing/2014/main" id="{9D98008A-9CDA-49F7-AFD8-15E93226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7AD"/>
          </a:solidFill>
          <a:ln xmlns:a="http://schemas.openxmlformats.org/drawingml/2006/main" w="0">
            <a:solidFill>
              <a:srgbClr val="D487AD"/>
            </a:solidFill>
            <a:prstDash val="solid"/>
          </a:ln>
        </p:spPr>
      </p:sp>
      <p:sp>
        <p:nvSpPr>
          <p:cNvPr id="354" name="b-internal-title">
            <a:extLst xmlns:a="http://schemas.openxmlformats.org/drawingml/2006/main">
              <a:ext uri="{FF2B5EF4-FFF2-40B4-BE49-F238E27FC236}">
                <a16:creationId xmlns:a16="http://schemas.microsoft.com/office/drawing/2014/main" id="{DC35BB94-2C24-4D2B-A2B1-6DAE7AE1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76500"/>
            <a:ext cx="1457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5E86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A95E86"/>
                </a:solidFill>
                <a:latin typeface="Calibri"/>
                <a:ea typeface="Calibri"/>
                <a:cs typeface="Calibri"/>
              </a:rPr>
              <a:t>Internal   n = 316</a:t>
            </a:r>
          </a:p>
        </p:txBody>
      </p:sp>
      <p:sp>
        <p:nvSpPr>
          <p:cNvPr id="355" name="b-internal-uses">
            <a:extLst xmlns:a="http://schemas.openxmlformats.org/drawingml/2006/main">
              <a:ext uri="{FF2B5EF4-FFF2-40B4-BE49-F238E27FC236}">
                <a16:creationId xmlns:a16="http://schemas.microsoft.com/office/drawing/2014/main" id="{701CCAFC-A467-4944-90D3-EA34BA13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800350"/>
            <a:ext cx="1457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5E86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A95E86"/>
                </a:solidFill>
                <a:latin typeface="Calibri"/>
                <a:ea typeface="Calibri"/>
                <a:cs typeface="Calibri"/>
              </a:rPr>
              <a:t>Select · tune · ablate · CV</a:t>
            </a:r>
          </a:p>
        </p:txBody>
      </p:sp>
      <p:sp>
        <p:nvSpPr>
          <p:cNvPr id="356" name="b-heldout-band">
            <a:extLst xmlns:a="http://schemas.openxmlformats.org/drawingml/2006/main">
              <a:ext uri="{FF2B5EF4-FFF2-40B4-BE49-F238E27FC236}">
                <a16:creationId xmlns:a16="http://schemas.microsoft.com/office/drawing/2014/main" id="{44663824-16F3-4CB3-AD87-03603FD4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38550"/>
            <a:ext cx="1714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B6A5"/>
            </a:solidFill>
            <a:prstDash val="dash"/>
          </a:ln>
        </p:spPr>
      </p:sp>
      <p:sp>
        <p:nvSpPr>
          <p:cNvPr id="357" name="b-heldout-stripe">
            <a:extLst xmlns:a="http://schemas.openxmlformats.org/drawingml/2006/main">
              <a:ext uri="{FF2B5EF4-FFF2-40B4-BE49-F238E27FC236}">
                <a16:creationId xmlns:a16="http://schemas.microsoft.com/office/drawing/2014/main" id="{9512E6BB-ADD6-4ADC-B861-85DE011E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385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B6A5"/>
          </a:solidFill>
          <a:ln xmlns:a="http://schemas.openxmlformats.org/drawingml/2006/main" w="0">
            <a:solidFill>
              <a:srgbClr val="88B6A5"/>
            </a:solidFill>
            <a:prstDash val="solid"/>
          </a:ln>
        </p:spPr>
      </p:sp>
      <p:sp>
        <p:nvSpPr>
          <p:cNvPr id="358" name="b-heldout-title">
            <a:extLst xmlns:a="http://schemas.openxmlformats.org/drawingml/2006/main">
              <a:ext uri="{FF2B5EF4-FFF2-40B4-BE49-F238E27FC236}">
                <a16:creationId xmlns:a16="http://schemas.microsoft.com/office/drawing/2014/main" id="{3C9F1E64-2570-4FAA-AB80-1EEEB9A5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752850"/>
            <a:ext cx="1457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8E7D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5F8E7D"/>
                </a:solidFill>
                <a:latin typeface="Calibri"/>
                <a:ea typeface="Calibri"/>
                <a:cs typeface="Calibri"/>
              </a:rPr>
              <a:t>BO-acquired batch   n = 25</a:t>
            </a:r>
          </a:p>
        </p:txBody>
      </p:sp>
      <p:sp>
        <p:nvSpPr>
          <p:cNvPr id="359" name="b-heldout-uses">
            <a:extLst xmlns:a="http://schemas.openxmlformats.org/drawingml/2006/main">
              <a:ext uri="{FF2B5EF4-FFF2-40B4-BE49-F238E27FC236}">
                <a16:creationId xmlns:a16="http://schemas.microsoft.com/office/drawing/2014/main" id="{8F785B43-18AF-4307-B1CF-699D4BAF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076700"/>
            <a:ext cx="1457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8E7D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5F8E7D"/>
                </a:solidFill>
                <a:latin typeface="Calibri"/>
                <a:ea typeface="Calibri"/>
                <a:cs typeface="Calibri"/>
              </a:rPr>
              <a:t>Round-4 EI acquisition · biased cohort</a:t>
            </a:r>
          </a:p>
        </p:txBody>
      </p:sp>
      <p:sp>
        <p:nvSpPr>
          <p:cNvPr id="360" name="b-locked-split">
            <a:extLst xmlns:a="http://schemas.openxmlformats.org/drawingml/2006/main">
              <a:ext uri="{FF2B5EF4-FFF2-40B4-BE49-F238E27FC236}">
                <a16:creationId xmlns:a16="http://schemas.microsoft.com/office/drawing/2014/main" id="{3456B811-FB2A-4FC9-8154-7C079542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972050"/>
            <a:ext cx="1085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F6F2"/>
          </a:solidFill>
          <a:ln xmlns:a="http://schemas.openxmlformats.org/drawingml/2006/main" w="9525">
            <a:solidFill>
              <a:srgbClr val="88B6A5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F8E7D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5F8E7D"/>
                </a:solidFill>
                <a:latin typeface="Calibri"/>
                <a:ea typeface="Calibri"/>
                <a:cs typeface="Calibri"/>
              </a:rPr>
              <a:t>Locked split</a:t>
            </a:r>
          </a:p>
        </p:txBody>
      </p:sp>
      <p:sp>
        <p:nvSpPr>
          <p:cNvPr id="361" name="c-raw-heading">
            <a:extLst xmlns:a="http://schemas.openxmlformats.org/drawingml/2006/main">
              <a:ext uri="{FF2B5EF4-FFF2-40B4-BE49-F238E27FC236}">
                <a16:creationId xmlns:a16="http://schemas.microsoft.com/office/drawing/2014/main" id="{40C47739-DC09-48A5-9BC8-77D37565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16205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5E86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A95E86"/>
                </a:solidFill>
                <a:latin typeface="Calibri"/>
                <a:ea typeface="Calibri"/>
                <a:cs typeface="Calibri"/>
              </a:rPr>
              <a:t>Raw fractions · 6</a:t>
            </a:r>
          </a:p>
        </p:txBody>
      </p:sp>
      <p:sp>
        <p:nvSpPr>
          <p:cNvPr id="362" name="c-raw-rule">
            <a:extLst xmlns:a="http://schemas.openxmlformats.org/drawingml/2006/main">
              <a:ext uri="{FF2B5EF4-FFF2-40B4-BE49-F238E27FC236}">
                <a16:creationId xmlns:a16="http://schemas.microsoft.com/office/drawing/2014/main" id="{A1338D40-C578-4004-9797-4AB250AB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43827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7AD"/>
          </a:solidFill>
          <a:ln xmlns:a="http://schemas.openxmlformats.org/drawingml/2006/main" w="0">
            <a:solidFill>
              <a:srgbClr val="D487AD"/>
            </a:solidFill>
            <a:prstDash val="solid"/>
          </a:ln>
        </p:spPr>
      </p:sp>
      <p:sp>
        <p:nvSpPr>
          <p:cNvPr id="363" name="c-raw-list">
            <a:extLst xmlns:a="http://schemas.openxmlformats.org/drawingml/2006/main">
              <a:ext uri="{FF2B5EF4-FFF2-40B4-BE49-F238E27FC236}">
                <a16:creationId xmlns:a16="http://schemas.microsoft.com/office/drawing/2014/main" id="{C00EEFBC-BE7A-4BC0-A743-8A08A29B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590675"/>
            <a:ext cx="1381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4343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34343B"/>
                </a:solidFill>
                <a:latin typeface="Calibri"/>
                <a:ea typeface="Calibri"/>
                <a:cs typeface="Calibri"/>
              </a:rPr>
              <a:t>HEA   ·   BA</a:t>
            </a:r>
          </a:p>
          <a:p xmlns:a="http://schemas.openxmlformats.org/drawingml/2006/main">
            <a:pPr algn="l">
              <a:defRPr sz="975" b="1">
                <a:solidFill>
                  <a:srgbClr val="34343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34343B"/>
                </a:solidFill>
                <a:latin typeface="Calibri"/>
                <a:ea typeface="Calibri"/>
                <a:cs typeface="Calibri"/>
              </a:rPr>
              <a:t>CBEA · ATAC</a:t>
            </a:r>
          </a:p>
          <a:p xmlns:a="http://schemas.openxmlformats.org/drawingml/2006/main">
            <a:pPr algn="l">
              <a:defRPr sz="975" b="1">
                <a:solidFill>
                  <a:srgbClr val="34343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34343B"/>
                </a:solidFill>
                <a:latin typeface="Calibri"/>
                <a:ea typeface="Calibri"/>
                <a:cs typeface="Calibri"/>
              </a:rPr>
              <a:t>PEA   ·   AAm</a:t>
            </a:r>
          </a:p>
        </p:txBody>
      </p:sp>
      <p:sp>
        <p:nvSpPr>
          <p:cNvPr id="364" name="c-pair-heading">
            <a:extLst xmlns:a="http://schemas.openxmlformats.org/drawingml/2006/main">
              <a:ext uri="{FF2B5EF4-FFF2-40B4-BE49-F238E27FC236}">
                <a16:creationId xmlns:a16="http://schemas.microsoft.com/office/drawing/2014/main" id="{9C382237-EA60-4166-B788-B34C357A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72415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7F9D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4E7F9D"/>
                </a:solidFill>
                <a:latin typeface="Calibri"/>
                <a:ea typeface="Calibri"/>
                <a:cs typeface="Calibri"/>
              </a:rPr>
              <a:t>Pairwise · 15</a:t>
            </a:r>
          </a:p>
        </p:txBody>
      </p:sp>
      <p:sp>
        <p:nvSpPr>
          <p:cNvPr id="365" name="c-pair-rule">
            <a:extLst xmlns:a="http://schemas.openxmlformats.org/drawingml/2006/main">
              <a:ext uri="{FF2B5EF4-FFF2-40B4-BE49-F238E27FC236}">
                <a16:creationId xmlns:a16="http://schemas.microsoft.com/office/drawing/2014/main" id="{C3C13CE2-C508-47A4-9867-34439CF9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00037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A9C8"/>
          </a:solidFill>
          <a:ln xmlns:a="http://schemas.openxmlformats.org/drawingml/2006/main" w="0">
            <a:solidFill>
              <a:srgbClr val="75A9C8"/>
            </a:solidFill>
            <a:prstDash val="solid"/>
          </a:ln>
        </p:spPr>
      </p:sp>
      <p:sp>
        <p:nvSpPr>
          <p:cNvPr id="366" name="c-pair-list">
            <a:extLst xmlns:a="http://schemas.openxmlformats.org/drawingml/2006/main">
              <a:ext uri="{FF2B5EF4-FFF2-40B4-BE49-F238E27FC236}">
                <a16:creationId xmlns:a16="http://schemas.microsoft.com/office/drawing/2014/main" id="{730BA8AC-CB5F-4C07-93C6-343C0E52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143250"/>
            <a:ext cx="1381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4343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34343B"/>
                </a:solidFill>
                <a:latin typeface="Calibri"/>
                <a:ea typeface="Calibri"/>
                <a:cs typeface="Calibri"/>
              </a:rPr>
              <a:t>HEA × ATAC</a:t>
            </a:r>
          </a:p>
          <a:p xmlns:a="http://schemas.openxmlformats.org/drawingml/2006/main">
            <a:pPr algn="l">
              <a:defRPr sz="975" b="1">
                <a:solidFill>
                  <a:srgbClr val="34343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34343B"/>
                </a:solidFill>
                <a:latin typeface="Calibri"/>
                <a:ea typeface="Calibri"/>
                <a:cs typeface="Calibri"/>
              </a:rPr>
              <a:t>BA × PEA</a:t>
            </a:r>
          </a:p>
          <a:p xmlns:a="http://schemas.openxmlformats.org/drawingml/2006/main">
            <a:pPr algn="l">
              <a:defRPr sz="975" b="1">
                <a:solidFill>
                  <a:srgbClr val="34343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34343B"/>
                </a:solidFill>
                <a:latin typeface="Calibri"/>
                <a:ea typeface="Calibri"/>
                <a:cs typeface="Calibri"/>
              </a:rPr>
              <a:t>CBEA × AAm</a:t>
            </a:r>
          </a:p>
          <a:p xmlns:a="http://schemas.openxmlformats.org/drawingml/2006/main">
            <a:pPr algn="l">
              <a:defRPr sz="975" b="1">
                <a:solidFill>
                  <a:srgbClr val="34343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34343B"/>
                </a:solidFill>
                <a:latin typeface="Calibri"/>
                <a:ea typeface="Calibri"/>
                <a:cs typeface="Calibri"/>
              </a:rPr>
              <a:t>+ 12 interactions</a:t>
            </a:r>
          </a:p>
        </p:txBody>
      </p:sp>
      <p:sp>
        <p:nvSpPr>
          <p:cNvPr id="367" name="c-feature-total">
            <a:extLst xmlns:a="http://schemas.openxmlformats.org/drawingml/2006/main">
              <a:ext uri="{FF2B5EF4-FFF2-40B4-BE49-F238E27FC236}">
                <a16:creationId xmlns:a16="http://schemas.microsoft.com/office/drawing/2014/main" id="{5EE87845-DC76-4714-85A3-96330AF3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29125"/>
            <a:ext cx="1323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5B99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715B99"/>
                </a:solidFill>
                <a:latin typeface="Calibri"/>
                <a:ea typeface="Calibri"/>
                <a:cs typeface="Calibri"/>
              </a:rPr>
              <a:t>21 features</a:t>
            </a:r>
          </a:p>
        </p:txBody>
      </p:sp>
      <p:sp>
        <p:nvSpPr>
          <p:cNvPr id="368" name="c-fold-local">
            <a:extLst xmlns:a="http://schemas.openxmlformats.org/drawingml/2006/main">
              <a:ext uri="{FF2B5EF4-FFF2-40B4-BE49-F238E27FC236}">
                <a16:creationId xmlns:a16="http://schemas.microsoft.com/office/drawing/2014/main" id="{82C72A7D-BE65-4B50-B545-22ED7F2E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57750"/>
            <a:ext cx="1219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6BE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15B99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715B99"/>
                </a:solidFill>
                <a:latin typeface="Calibri"/>
                <a:ea typeface="Calibri"/>
                <a:cs typeface="Calibri"/>
              </a:rPr>
              <a:t>Fold-local scaling</a:t>
            </a:r>
          </a:p>
        </p:txBody>
      </p:sp>
      <p:sp>
        <p:nvSpPr>
          <p:cNvPr id="369" name="c-no-leak">
            <a:extLst xmlns:a="http://schemas.openxmlformats.org/drawingml/2006/main">
              <a:ext uri="{FF2B5EF4-FFF2-40B4-BE49-F238E27FC236}">
                <a16:creationId xmlns:a16="http://schemas.microsoft.com/office/drawing/2014/main" id="{4E1DC775-2D7F-4C69-9BB2-3332D82B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19700"/>
            <a:ext cx="1219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EFF8"/>
          </a:solidFill>
          <a:ln xmlns:a="http://schemas.openxmlformats.org/drawingml/2006/main" w="9525">
            <a:solidFill>
              <a:srgbClr val="9A86BE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15B99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715B99"/>
                </a:solidFill>
                <a:latin typeface="Calibri"/>
                <a:ea typeface="Calibri"/>
                <a:cs typeface="Calibri"/>
              </a:rPr>
              <a:t>No leakage</a:t>
            </a:r>
          </a:p>
        </p:txBody>
      </p:sp>
      <p:sp>
        <p:nvSpPr>
          <p:cNvPr id="370" name="d-cv-main">
            <a:extLst xmlns:a="http://schemas.openxmlformats.org/drawingml/2006/main">
              <a:ext uri="{FF2B5EF4-FFF2-40B4-BE49-F238E27FC236}">
                <a16:creationId xmlns:a16="http://schemas.microsoft.com/office/drawing/2014/main" id="{BCD81270-AA4C-4AEE-8014-BB617917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2001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5B99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715B99"/>
                </a:solidFill>
                <a:latin typeface="Calibri"/>
                <a:ea typeface="Calibri"/>
                <a:cs typeface="Calibri"/>
              </a:rPr>
              <a:t>Repeated 5-fold CV</a:t>
            </a:r>
          </a:p>
        </p:txBody>
      </p:sp>
      <p:sp>
        <p:nvSpPr>
          <p:cNvPr id="371" name="d-cv-seeds">
            <a:extLst xmlns:a="http://schemas.openxmlformats.org/drawingml/2006/main">
              <a:ext uri="{FF2B5EF4-FFF2-40B4-BE49-F238E27FC236}">
                <a16:creationId xmlns:a16="http://schemas.microsoft.com/office/drawing/2014/main" id="{1757BF32-03AD-44BA-BEA3-55499189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533525"/>
            <a:ext cx="137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5B99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715B99"/>
                </a:solidFill>
                <a:latin typeface="Calibri"/>
                <a:ea typeface="Calibri"/>
                <a:cs typeface="Calibri"/>
              </a:rPr>
              <a:t>10 random seeds</a:t>
            </a:r>
          </a:p>
        </p:txBody>
      </p:sp>
      <p:sp>
        <p:nvSpPr>
          <p:cNvPr id="372" name="d-cv-rule">
            <a:extLst xmlns:a="http://schemas.openxmlformats.org/drawingml/2006/main">
              <a:ext uri="{FF2B5EF4-FFF2-40B4-BE49-F238E27FC236}">
                <a16:creationId xmlns:a16="http://schemas.microsoft.com/office/drawing/2014/main" id="{C4A588AB-FD17-44B6-AADE-BCE180EB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24790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86BE"/>
          </a:solidFill>
          <a:ln xmlns:a="http://schemas.openxmlformats.org/drawingml/2006/main" w="0">
            <a:solidFill>
              <a:srgbClr val="9A86BE"/>
            </a:solidFill>
            <a:prstDash val="solid"/>
          </a:ln>
        </p:spPr>
      </p:sp>
      <p:sp>
        <p:nvSpPr>
          <p:cNvPr id="373" name="d-internal-only">
            <a:extLst xmlns:a="http://schemas.openxmlformats.org/drawingml/2006/main">
              <a:ext uri="{FF2B5EF4-FFF2-40B4-BE49-F238E27FC236}">
                <a16:creationId xmlns:a16="http://schemas.microsoft.com/office/drawing/2014/main" id="{A74EB336-2177-4231-9556-539CB19D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9716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A95E86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A95E86"/>
                </a:solidFill>
                <a:latin typeface="Calibri"/>
                <a:ea typeface="Calibri"/>
                <a:cs typeface="Calibri"/>
              </a:rPr>
              <a:t>Internal cohort only</a:t>
            </a:r>
          </a:p>
        </p:txBody>
      </p:sp>
      <p:sp>
        <p:nvSpPr>
          <p:cNvPr id="374" name="d-prune-backdrop">
            <a:extLst xmlns:a="http://schemas.openxmlformats.org/drawingml/2006/main">
              <a:ext uri="{FF2B5EF4-FFF2-40B4-BE49-F238E27FC236}">
                <a16:creationId xmlns:a16="http://schemas.microsoft.com/office/drawing/2014/main" id="{59FCD79A-F48A-486C-90F4-4D2E6DE6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76525"/>
            <a:ext cx="7143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F5E8"/>
          </a:solidFill>
          <a:ln xmlns:a="http://schemas.openxmlformats.org/drawingml/2006/main" w="7620">
            <a:solidFill>
              <a:srgbClr val="D7AE66"/>
            </a:solidFill>
            <a:prstDash val="solid"/>
          </a:ln>
        </p:spPr>
      </p:sp>
      <p:pic>
        <p:nvPicPr>
          <p:cNvPr id="518" name="d-model-selec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5660bb4114d3d">
            <a:extLst>
              <a:ext uri="{96DAC541-7B7A-43D3-8B79-37D633B846F1}">
                <asvg:svgBlip xmlns:asvg="http://schemas.microsoft.com/office/drawing/2016/SVG/main" r:embed="Rbc603888298f4f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20025" y="2733675"/>
            <a:ext cx="561975" cy="561975"/>
          </a:xfrm>
          <a:prstGeom xmlns:a="http://schemas.openxmlformats.org/drawingml/2006/main" prst="rect">
            <a:avLst/>
          </a:prstGeom>
        </p:spPr>
      </p:pic>
      <p:sp>
        <p:nvSpPr>
          <p:cNvPr id="376" name="d-prune-label">
            <a:extLst xmlns:a="http://schemas.openxmlformats.org/drawingml/2006/main">
              <a:ext uri="{FF2B5EF4-FFF2-40B4-BE49-F238E27FC236}">
                <a16:creationId xmlns:a16="http://schemas.microsoft.com/office/drawing/2014/main" id="{4F549338-8CC0-4406-91AA-1025C300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909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A77A31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A77A31"/>
                </a:solidFill>
                <a:latin typeface="Calibri"/>
                <a:ea typeface="Calibri"/>
                <a:cs typeface="Calibri"/>
              </a:rPr>
              <a:t>Tune baselines</a:t>
            </a:r>
          </a:p>
        </p:txBody>
      </p:sp>
      <p:sp>
        <p:nvSpPr>
          <p:cNvPr id="377" name="d-ablate-label">
            <a:extLst xmlns:a="http://schemas.openxmlformats.org/drawingml/2006/main">
              <a:ext uri="{FF2B5EF4-FFF2-40B4-BE49-F238E27FC236}">
                <a16:creationId xmlns:a16="http://schemas.microsoft.com/office/drawing/2014/main" id="{790A40D0-E3DC-4C44-8F9C-FE8EBA79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A77A31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A77A31"/>
                </a:solidFill>
                <a:latin typeface="Calibri"/>
                <a:ea typeface="Calibri"/>
                <a:cs typeface="Calibri"/>
              </a:rPr>
              <a:t>Ablation gate</a:t>
            </a:r>
          </a:p>
        </p:txBody>
      </p:sp>
      <p:sp>
        <p:nvSpPr>
          <p:cNvPr id="378" name="d-network-backdrop">
            <a:extLst xmlns:a="http://schemas.openxmlformats.org/drawingml/2006/main">
              <a:ext uri="{FF2B5EF4-FFF2-40B4-BE49-F238E27FC236}">
                <a16:creationId xmlns:a16="http://schemas.microsoft.com/office/drawing/2014/main" id="{DFF37558-DF19-4D40-9670-FC2472A0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91000"/>
            <a:ext cx="1238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EFF8"/>
          </a:solidFill>
          <a:ln xmlns:a="http://schemas.openxmlformats.org/drawingml/2006/main" w="7620">
            <a:solidFill>
              <a:srgbClr val="9A86BE"/>
            </a:solidFill>
            <a:prstDash val="solid"/>
          </a:ln>
        </p:spPr>
      </p:sp>
      <p:pic>
        <p:nvPicPr>
          <p:cNvPr id="522" name="d-neural-netwo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ba69456434dda">
            <a:extLst>
              <a:ext uri="{96DAC541-7B7A-43D3-8B79-37D633B846F1}">
                <asvg:svgBlip xmlns:asvg="http://schemas.microsoft.com/office/drawing/2016/SVG/main" r:embed="R4eee34b9a82a4a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72375" y="4257675"/>
            <a:ext cx="971550" cy="704850"/>
          </a:xfrm>
          <a:prstGeom xmlns:a="http://schemas.openxmlformats.org/drawingml/2006/main" prst="rect">
            <a:avLst/>
          </a:prstGeom>
        </p:spPr>
      </p:pic>
      <p:sp>
        <p:nvSpPr>
          <p:cNvPr id="380" name="d-model-count">
            <a:extLst xmlns:a="http://schemas.openxmlformats.org/drawingml/2006/main">
              <a:ext uri="{FF2B5EF4-FFF2-40B4-BE49-F238E27FC236}">
                <a16:creationId xmlns:a16="http://schemas.microsoft.com/office/drawing/2014/main" id="{48343527-708E-4A71-9B1B-D778DDE3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29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86BE"/>
          </a:solidFill>
          <a:ln xmlns:a="http://schemas.openxmlformats.org/drawingml/2006/main" w="0">
            <a:solidFill>
              <a:srgbClr val="9A86B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×50</a:t>
            </a:r>
          </a:p>
        </p:txBody>
      </p:sp>
      <p:sp>
        <p:nvSpPr>
          <p:cNvPr id="381" name="d-freeze-label">
            <a:extLst xmlns:a="http://schemas.openxmlformats.org/drawingml/2006/main">
              <a:ext uri="{FF2B5EF4-FFF2-40B4-BE49-F238E27FC236}">
                <a16:creationId xmlns:a16="http://schemas.microsoft.com/office/drawing/2014/main" id="{9377FBF4-9F65-484A-BAE0-1FE5FC6D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29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15B99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715B99"/>
                </a:solidFill>
                <a:latin typeface="Calibri"/>
                <a:ea typeface="Calibri"/>
                <a:cs typeface="Calibri"/>
              </a:rPr>
              <a:t>Frozen ensemble</a:t>
            </a:r>
          </a:p>
        </p:txBody>
      </p:sp>
      <p:sp>
        <p:nvSpPr>
          <p:cNvPr id="382" name="d-mixup">
            <a:extLst xmlns:a="http://schemas.openxmlformats.org/drawingml/2006/main">
              <a:ext uri="{FF2B5EF4-FFF2-40B4-BE49-F238E27FC236}">
                <a16:creationId xmlns:a16="http://schemas.microsoft.com/office/drawing/2014/main" id="{7B2920B4-16C8-46F8-A914-88C60689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62575"/>
            <a:ext cx="5905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AEFF5"/>
          </a:solidFill>
          <a:ln xmlns:a="http://schemas.openxmlformats.org/drawingml/2006/main" w="9525">
            <a:solidFill>
              <a:srgbClr val="D487AD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A95E86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A95E86"/>
                </a:solidFill>
                <a:latin typeface="Calibri"/>
                <a:ea typeface="Calibri"/>
                <a:cs typeface="Calibri"/>
              </a:rPr>
              <a:t>Mixup</a:t>
            </a:r>
          </a:p>
        </p:txBody>
      </p:sp>
      <p:sp>
        <p:nvSpPr>
          <p:cNvPr id="383" name="d-early">
            <a:extLst xmlns:a="http://schemas.openxmlformats.org/drawingml/2006/main">
              <a:ext uri="{FF2B5EF4-FFF2-40B4-BE49-F238E27FC236}">
                <a16:creationId xmlns:a16="http://schemas.microsoft.com/office/drawing/2014/main" id="{DA72AACF-727D-434A-AA30-CF7F579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362575"/>
            <a:ext cx="6953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EF5F9"/>
          </a:solidFill>
          <a:ln xmlns:a="http://schemas.openxmlformats.org/drawingml/2006/main" w="9525">
            <a:solidFill>
              <a:srgbClr val="75A9C8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E7F9D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4E7F9D"/>
                </a:solidFill>
                <a:latin typeface="Calibri"/>
                <a:ea typeface="Calibri"/>
                <a:cs typeface="Calibri"/>
              </a:rPr>
              <a:t>Early stop</a:t>
            </a:r>
          </a:p>
        </p:txBody>
      </p:sp>
      <p:sp>
        <p:nvSpPr>
          <p:cNvPr id="384" name="d-swa">
            <a:extLst xmlns:a="http://schemas.openxmlformats.org/drawingml/2006/main">
              <a:ext uri="{FF2B5EF4-FFF2-40B4-BE49-F238E27FC236}">
                <a16:creationId xmlns:a16="http://schemas.microsoft.com/office/drawing/2014/main" id="{3D58E1CC-3C52-4772-96EB-735698FE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362575"/>
            <a:ext cx="48577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FF6F2"/>
          </a:solidFill>
          <a:ln xmlns:a="http://schemas.openxmlformats.org/drawingml/2006/main" w="9525">
            <a:solidFill>
              <a:srgbClr val="88B6A5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F8E7D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5F8E7D"/>
                </a:solidFill>
                <a:latin typeface="Calibri"/>
                <a:ea typeface="Calibri"/>
                <a:cs typeface="Calibri"/>
              </a:rPr>
              <a:t>SWA</a:t>
            </a:r>
          </a:p>
        </p:txBody>
      </p:sp>
      <p:sp>
        <p:nvSpPr>
          <p:cNvPr id="385" name="e-oof">
            <a:extLst xmlns:a="http://schemas.openxmlformats.org/drawingml/2006/main">
              <a:ext uri="{FF2B5EF4-FFF2-40B4-BE49-F238E27FC236}">
                <a16:creationId xmlns:a16="http://schemas.microsoft.com/office/drawing/2014/main" id="{5AD9ADF3-B831-4CEA-AB04-BC249DF4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12287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7AD"/>
          </a:solidFill>
          <a:ln xmlns:a="http://schemas.openxmlformats.org/drawingml/2006/main" w="0">
            <a:solidFill>
              <a:srgbClr val="D487AD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OOF</a:t>
            </a:r>
          </a:p>
        </p:txBody>
      </p:sp>
      <p:sp>
        <p:nvSpPr>
          <p:cNvPr id="386" name="e-oof-label">
            <a:extLst xmlns:a="http://schemas.openxmlformats.org/drawingml/2006/main">
              <a:ext uri="{FF2B5EF4-FFF2-40B4-BE49-F238E27FC236}">
                <a16:creationId xmlns:a16="http://schemas.microsoft.com/office/drawing/2014/main" id="{3AB7BAAE-02CD-487E-B930-8F98482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907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A95E86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A95E86"/>
                </a:solidFill>
                <a:latin typeface="Calibri"/>
                <a:ea typeface="Calibri"/>
                <a:cs typeface="Calibri"/>
              </a:rPr>
              <a:t>Internal</a:t>
            </a:r>
          </a:p>
        </p:txBody>
      </p:sp>
      <p:sp>
        <p:nvSpPr>
          <p:cNvPr id="387" name="e-held">
            <a:extLst xmlns:a="http://schemas.openxmlformats.org/drawingml/2006/main">
              <a:ext uri="{FF2B5EF4-FFF2-40B4-BE49-F238E27FC236}">
                <a16:creationId xmlns:a16="http://schemas.microsoft.com/office/drawing/2014/main" id="{C428F51D-A662-44D9-A2C1-35682377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12287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B6A5"/>
          </a:solidFill>
          <a:ln xmlns:a="http://schemas.openxmlformats.org/drawingml/2006/main" w="0">
            <a:solidFill>
              <a:srgbClr val="88B6A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388" name="e-held-label">
            <a:extLst xmlns:a="http://schemas.openxmlformats.org/drawingml/2006/main">
              <a:ext uri="{FF2B5EF4-FFF2-40B4-BE49-F238E27FC236}">
                <a16:creationId xmlns:a16="http://schemas.microsoft.com/office/drawing/2014/main" id="{054EC6FC-9606-4340-9406-E9DFB200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17907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F8E7D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5F8E7D"/>
                </a:solidFill>
                <a:latin typeface="Calibri"/>
                <a:ea typeface="Calibri"/>
                <a:cs typeface="Calibri"/>
              </a:rPr>
              <a:t>BO-acquired</a:t>
            </a:r>
          </a:p>
        </p:txBody>
      </p:sp>
      <p:sp>
        <p:nvSpPr>
          <p:cNvPr id="389" name="e-metric-0">
            <a:extLst xmlns:a="http://schemas.openxmlformats.org/drawingml/2006/main">
              <a:ext uri="{FF2B5EF4-FFF2-40B4-BE49-F238E27FC236}">
                <a16:creationId xmlns:a16="http://schemas.microsoft.com/office/drawing/2014/main" id="{BE5740BE-DD5C-44A3-B406-4CA1B73C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47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487AD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487AD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D487AD"/>
                </a:solidFill>
                <a:latin typeface="Calibri"/>
                <a:ea typeface="Calibri"/>
                <a:cs typeface="Calibri"/>
              </a:rPr>
              <a:t>R²</a:t>
            </a:r>
          </a:p>
        </p:txBody>
      </p:sp>
      <p:sp>
        <p:nvSpPr>
          <p:cNvPr id="390" name="e-metric-1">
            <a:extLst xmlns:a="http://schemas.openxmlformats.org/drawingml/2006/main">
              <a:ext uri="{FF2B5EF4-FFF2-40B4-BE49-F238E27FC236}">
                <a16:creationId xmlns:a16="http://schemas.microsoft.com/office/drawing/2014/main" id="{94881900-1414-419A-8AF4-0CA3F71E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47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5A9C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5A9C8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75A9C8"/>
                </a:solidFill>
                <a:latin typeface="Calibri"/>
                <a:ea typeface="Calibri"/>
                <a:cs typeface="Calibri"/>
              </a:rPr>
              <a:t>RMSE</a:t>
            </a:r>
          </a:p>
        </p:txBody>
      </p:sp>
      <p:sp>
        <p:nvSpPr>
          <p:cNvPr id="391" name="e-metric-2">
            <a:extLst xmlns:a="http://schemas.openxmlformats.org/drawingml/2006/main">
              <a:ext uri="{FF2B5EF4-FFF2-40B4-BE49-F238E27FC236}">
                <a16:creationId xmlns:a16="http://schemas.microsoft.com/office/drawing/2014/main" id="{FFE102C5-E551-467F-8D35-22F46DE8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47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A86B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A86BE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A86BE"/>
                </a:solidFill>
                <a:latin typeface="Calibri"/>
                <a:ea typeface="Calibri"/>
                <a:cs typeface="Calibri"/>
              </a:rPr>
              <a:t>ρ</a:t>
            </a:r>
          </a:p>
        </p:txBody>
      </p:sp>
      <p:sp>
        <p:nvSpPr>
          <p:cNvPr id="392" name="e-metric-3">
            <a:extLst xmlns:a="http://schemas.openxmlformats.org/drawingml/2006/main">
              <a:ext uri="{FF2B5EF4-FFF2-40B4-BE49-F238E27FC236}">
                <a16:creationId xmlns:a16="http://schemas.microsoft.com/office/drawing/2014/main" id="{D9D6ADF9-92E6-4379-B367-601476F9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2447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AE6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7AE66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D7AE66"/>
                </a:solidFill>
                <a:latin typeface="Calibri"/>
                <a:ea typeface="Calibri"/>
                <a:cs typeface="Calibri"/>
              </a:rPr>
              <a:t>P@k</a:t>
            </a:r>
          </a:p>
        </p:txBody>
      </p:sp>
      <p:sp>
        <p:nvSpPr>
          <p:cNvPr id="393" name="rank-bar-0">
            <a:extLst xmlns:a="http://schemas.openxmlformats.org/drawingml/2006/main">
              <a:ext uri="{FF2B5EF4-FFF2-40B4-BE49-F238E27FC236}">
                <a16:creationId xmlns:a16="http://schemas.microsoft.com/office/drawing/2014/main" id="{DFFE1693-0656-4BBA-838D-EF556423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486150"/>
            <a:ext cx="14097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8B6A5"/>
          </a:solidFill>
          <a:ln xmlns:a="http://schemas.openxmlformats.org/drawingml/2006/main" w="0">
            <a:solidFill>
              <a:srgbClr val="88B6A5"/>
            </a:solidFill>
            <a:prstDash val="solid"/>
          </a:ln>
        </p:spPr>
      </p:sp>
      <p:sp>
        <p:nvSpPr>
          <p:cNvPr id="394" name="rank-bar-1">
            <a:extLst xmlns:a="http://schemas.openxmlformats.org/drawingml/2006/main">
              <a:ext uri="{FF2B5EF4-FFF2-40B4-BE49-F238E27FC236}">
                <a16:creationId xmlns:a16="http://schemas.microsoft.com/office/drawing/2014/main" id="{73AA85A8-F91A-47F1-A300-4D6C621E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629025"/>
            <a:ext cx="12001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A9C8"/>
          </a:solidFill>
          <a:ln xmlns:a="http://schemas.openxmlformats.org/drawingml/2006/main" w="0">
            <a:solidFill>
              <a:srgbClr val="75A9C8"/>
            </a:solidFill>
            <a:prstDash val="solid"/>
          </a:ln>
        </p:spPr>
      </p:sp>
      <p:sp>
        <p:nvSpPr>
          <p:cNvPr id="395" name="rank-bar-2">
            <a:extLst xmlns:a="http://schemas.openxmlformats.org/drawingml/2006/main">
              <a:ext uri="{FF2B5EF4-FFF2-40B4-BE49-F238E27FC236}">
                <a16:creationId xmlns:a16="http://schemas.microsoft.com/office/drawing/2014/main" id="{2F746A6F-BC99-4C58-B9C5-41994CEB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771900"/>
            <a:ext cx="98107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9A86BE"/>
          </a:solidFill>
          <a:ln xmlns:a="http://schemas.openxmlformats.org/drawingml/2006/main" w="0">
            <a:solidFill>
              <a:srgbClr val="9A86BE"/>
            </a:solidFill>
            <a:prstDash val="solid"/>
          </a:ln>
        </p:spPr>
      </p:sp>
      <p:sp>
        <p:nvSpPr>
          <p:cNvPr id="396" name="rank-bar-3">
            <a:extLst xmlns:a="http://schemas.openxmlformats.org/drawingml/2006/main">
              <a:ext uri="{FF2B5EF4-FFF2-40B4-BE49-F238E27FC236}">
                <a16:creationId xmlns:a16="http://schemas.microsoft.com/office/drawing/2014/main" id="{542401FE-DE72-4C1E-910F-4DE60E0B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914775"/>
            <a:ext cx="7334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7AE66"/>
          </a:solidFill>
          <a:ln xmlns:a="http://schemas.openxmlformats.org/drawingml/2006/main" w="0">
            <a:solidFill>
              <a:srgbClr val="D7AE66"/>
            </a:solidFill>
            <a:prstDash val="solid"/>
          </a:ln>
        </p:spPr>
      </p:sp>
      <p:sp>
        <p:nvSpPr>
          <p:cNvPr id="397" name="rank-bar-4">
            <a:extLst xmlns:a="http://schemas.openxmlformats.org/drawingml/2006/main">
              <a:ext uri="{FF2B5EF4-FFF2-40B4-BE49-F238E27FC236}">
                <a16:creationId xmlns:a16="http://schemas.microsoft.com/office/drawing/2014/main" id="{7466A15B-F164-4011-9A32-F7A9327C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057650"/>
            <a:ext cx="52387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487AD"/>
          </a:solidFill>
          <a:ln xmlns:a="http://schemas.openxmlformats.org/drawingml/2006/main" w="0">
            <a:solidFill>
              <a:srgbClr val="D487AD"/>
            </a:solidFill>
            <a:prstDash val="solid"/>
          </a:ln>
        </p:spPr>
      </p:sp>
      <p:sp>
        <p:nvSpPr>
          <p:cNvPr id="398" name="e-rank-star">
            <a:extLst xmlns:a="http://schemas.openxmlformats.org/drawingml/2006/main">
              <a:ext uri="{FF2B5EF4-FFF2-40B4-BE49-F238E27FC236}">
                <a16:creationId xmlns:a16="http://schemas.microsoft.com/office/drawing/2014/main" id="{7C796343-1D96-4DA9-B008-B0962D9F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34766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E66"/>
          </a:solidFill>
          <a:ln xmlns:a="http://schemas.openxmlformats.org/drawingml/2006/main" w="0">
            <a:solidFill>
              <a:srgbClr val="D7AE6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★</a:t>
            </a:r>
          </a:p>
        </p:txBody>
      </p:sp>
      <p:sp>
        <p:nvSpPr>
          <p:cNvPr id="399" name="e-ranking-label">
            <a:extLst xmlns:a="http://schemas.openxmlformats.org/drawingml/2006/main">
              <a:ext uri="{FF2B5EF4-FFF2-40B4-BE49-F238E27FC236}">
                <a16:creationId xmlns:a16="http://schemas.microsoft.com/office/drawing/2014/main" id="{2C119424-1A7E-42E4-82BC-7BA67D3B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02907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F8E7D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5F8E7D"/>
                </a:solidFill>
                <a:latin typeface="Calibri"/>
                <a:ea typeface="Calibri"/>
                <a:cs typeface="Calibri"/>
              </a:rPr>
              <a:t>Top-k ranking</a:t>
            </a:r>
          </a:p>
        </p:txBody>
      </p:sp>
      <p:sp>
        <p:nvSpPr>
          <p:cNvPr id="400" name="importance-bar-0">
            <a:extLst xmlns:a="http://schemas.openxmlformats.org/drawingml/2006/main">
              <a:ext uri="{FF2B5EF4-FFF2-40B4-BE49-F238E27FC236}">
                <a16:creationId xmlns:a16="http://schemas.microsoft.com/office/drawing/2014/main" id="{BC22020D-6254-4470-BA09-0CB45DC5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810125"/>
            <a:ext cx="13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7AD"/>
          </a:solidFill>
          <a:ln xmlns:a="http://schemas.openxmlformats.org/drawingml/2006/main" w="0">
            <a:solidFill>
              <a:srgbClr val="D487AD"/>
            </a:solidFill>
            <a:prstDash val="solid"/>
          </a:ln>
        </p:spPr>
      </p:sp>
      <p:sp>
        <p:nvSpPr>
          <p:cNvPr id="401" name="importance-bar-1">
            <a:extLst xmlns:a="http://schemas.openxmlformats.org/drawingml/2006/main">
              <a:ext uri="{FF2B5EF4-FFF2-40B4-BE49-F238E27FC236}">
                <a16:creationId xmlns:a16="http://schemas.microsoft.com/office/drawing/2014/main" id="{B16DF3E4-620A-4E55-A3C4-B6E133C8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562475"/>
            <a:ext cx="13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86BE"/>
          </a:solidFill>
          <a:ln xmlns:a="http://schemas.openxmlformats.org/drawingml/2006/main" w="0">
            <a:solidFill>
              <a:srgbClr val="9A86BE"/>
            </a:solidFill>
            <a:prstDash val="solid"/>
          </a:ln>
        </p:spPr>
      </p:sp>
      <p:sp>
        <p:nvSpPr>
          <p:cNvPr id="402" name="importance-bar-2">
            <a:extLst xmlns:a="http://schemas.openxmlformats.org/drawingml/2006/main">
              <a:ext uri="{FF2B5EF4-FFF2-40B4-BE49-F238E27FC236}">
                <a16:creationId xmlns:a16="http://schemas.microsoft.com/office/drawing/2014/main" id="{7BB9B313-FB23-425C-992F-175D33B6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714875"/>
            <a:ext cx="133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A9C8"/>
          </a:solidFill>
          <a:ln xmlns:a="http://schemas.openxmlformats.org/drawingml/2006/main" w="0">
            <a:solidFill>
              <a:srgbClr val="75A9C8"/>
            </a:solidFill>
            <a:prstDash val="solid"/>
          </a:ln>
        </p:spPr>
      </p:sp>
      <p:sp>
        <p:nvSpPr>
          <p:cNvPr id="403" name="importance-bar-3">
            <a:extLst xmlns:a="http://schemas.openxmlformats.org/drawingml/2006/main">
              <a:ext uri="{FF2B5EF4-FFF2-40B4-BE49-F238E27FC236}">
                <a16:creationId xmlns:a16="http://schemas.microsoft.com/office/drawing/2014/main" id="{A5246485-649F-4169-AE89-4200A567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76800"/>
            <a:ext cx="1333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66"/>
          </a:solidFill>
          <a:ln xmlns:a="http://schemas.openxmlformats.org/drawingml/2006/main" w="0">
            <a:solidFill>
              <a:srgbClr val="D7AE66"/>
            </a:solidFill>
            <a:prstDash val="solid"/>
          </a:ln>
        </p:spPr>
      </p:sp>
      <p:sp>
        <p:nvSpPr>
          <p:cNvPr id="404" name="importance-bar-4">
            <a:extLst xmlns:a="http://schemas.openxmlformats.org/drawingml/2006/main">
              <a:ext uri="{FF2B5EF4-FFF2-40B4-BE49-F238E27FC236}">
                <a16:creationId xmlns:a16="http://schemas.microsoft.com/office/drawing/2014/main" id="{D9282DA5-8B66-4A66-8F12-56CFA133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4657725"/>
            <a:ext cx="133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B6A5"/>
          </a:solidFill>
          <a:ln xmlns:a="http://schemas.openxmlformats.org/drawingml/2006/main" w="0">
            <a:solidFill>
              <a:srgbClr val="88B6A5"/>
            </a:solidFill>
            <a:prstDash val="solid"/>
          </a:ln>
        </p:spPr>
      </p:sp>
      <p:sp>
        <p:nvSpPr>
          <p:cNvPr id="405" name="importance-baseline">
            <a:extLst xmlns:a="http://schemas.openxmlformats.org/drawingml/2006/main">
              <a:ext uri="{FF2B5EF4-FFF2-40B4-BE49-F238E27FC236}">
                <a16:creationId xmlns:a16="http://schemas.microsoft.com/office/drawing/2014/main" id="{5E70296A-83AB-420F-8492-3F1485FB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133975"/>
            <a:ext cx="1047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B99"/>
          </a:solidFill>
          <a:ln xmlns:a="http://schemas.openxmlformats.org/drawingml/2006/main" w="0">
            <a:solidFill>
              <a:srgbClr val="715B99"/>
            </a:solidFill>
            <a:prstDash val="solid"/>
          </a:ln>
        </p:spPr>
      </p:sp>
      <p:sp>
        <p:nvSpPr>
          <p:cNvPr id="406" name="e-importance-label">
            <a:extLst xmlns:a="http://schemas.openxmlformats.org/drawingml/2006/main">
              <a:ext uri="{FF2B5EF4-FFF2-40B4-BE49-F238E27FC236}">
                <a16:creationId xmlns:a16="http://schemas.microsoft.com/office/drawing/2014/main" id="{29CF5938-0ABB-4533-A211-E7950C7B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2197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15B99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715B99"/>
                </a:solidFill>
                <a:latin typeface="Calibri"/>
                <a:ea typeface="Calibri"/>
                <a:cs typeface="Calibri"/>
              </a:rPr>
              <a:t>Permutation importance</a:t>
            </a:r>
          </a:p>
        </p:txBody>
      </p:sp>
      <p:sp>
        <p:nvSpPr>
          <p:cNvPr id="407" name="feedback-port-a">
            <a:extLst xmlns:a="http://schemas.openxmlformats.org/drawingml/2006/main">
              <a:ext uri="{FF2B5EF4-FFF2-40B4-BE49-F238E27FC236}">
                <a16:creationId xmlns:a16="http://schemas.microsoft.com/office/drawing/2014/main" id="{8BD12BBF-CB4E-4041-B66F-751F6076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686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B6A5"/>
          </a:solidFill>
          <a:ln xmlns:a="http://schemas.openxmlformats.org/drawingml/2006/main" w="0">
            <a:solidFill>
              <a:srgbClr val="88B6A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8" name="feedback-port-e">
            <a:extLst xmlns:a="http://schemas.openxmlformats.org/drawingml/2006/main">
              <a:ext uri="{FF2B5EF4-FFF2-40B4-BE49-F238E27FC236}">
                <a16:creationId xmlns:a16="http://schemas.microsoft.com/office/drawing/2014/main" id="{037230C9-D136-4929-9D90-38A33382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686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B6A5"/>
          </a:solidFill>
          <a:ln xmlns:a="http://schemas.openxmlformats.org/drawingml/2006/main" w="0">
            <a:solidFill>
              <a:srgbClr val="88B6A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9" name="feedback-box">
            <a:extLst xmlns:a="http://schemas.openxmlformats.org/drawingml/2006/main">
              <a:ext uri="{FF2B5EF4-FFF2-40B4-BE49-F238E27FC236}">
                <a16:creationId xmlns:a16="http://schemas.microsoft.com/office/drawing/2014/main" id="{9D72803A-3171-435D-8352-88AD7AC1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076950"/>
            <a:ext cx="4648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B6A5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8E7D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5F8E7D"/>
                </a:solidFill>
                <a:latin typeface="Calibri"/>
                <a:ea typeface="Calibri"/>
                <a:cs typeface="Calibri"/>
              </a:rPr>
              <a:t>Screen  →  synthesize  →  test</a:t>
            </a:r>
          </a:p>
        </p:txBody>
      </p:sp>
    </p:spTree>
    <p:extLst>
      <p:ext uri="{BB962C8B-B14F-4D97-AF65-F5344CB8AC3E}">
        <p14:creationId xmlns:p14="http://schemas.microsoft.com/office/powerpoint/2010/main" val="10231973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2026-08-09T16:10:43.4010000Z</dcterms:created>
  <dcterms:modified xsi:type="dcterms:W3CDTF">2026-08-09T16:10:43.4010000Z</dcterms:modified>
</coreProperties>
</file>