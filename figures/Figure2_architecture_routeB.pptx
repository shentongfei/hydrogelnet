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/Users/floretli/Desktop/paper_writing/others/TransMicro-net/2.0/model_final.txt (BlockTokenizer, fusion path, residual blocks, sparse attention, task gate, prediction head)</a:t>
            </a:r>
          </a:p>
          <a:p>
            <a:r>
              <a:t>- /Users/floretli/Desktop/paper_writing/others/TransMicro-net/resource/pipeline_figure/figures/Fig2_TransMICRONet_architecture_v2.pptx (visual source)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4" name="圆角矩形 313"/>
          <p:cNvSpPr>
            <a:spLocks noGrp="1"/>
          </p:cNvSpPr>
          <p:nvPr/>
        </p:nvSpPr>
        <p:spPr>
          <a:xfrm>
            <a:off x="228600" y="209550"/>
            <a:ext cx="2095500" cy="3857625"/>
          </a:xfrm>
          <a:prstGeom prst="roundRect">
            <a:avLst>
              <a:gd name="adj" fmla="val 3636"/>
            </a:avLst>
          </a:prstGeom>
          <a:solidFill>
            <a:srgbClr val="FBF4ED"/>
          </a:solidFill>
          <a:ln w="10001">
            <a:solidFill>
              <a:srgbClr val="85868E"/>
            </a:solidFill>
            <a:prstDash val="dash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2524125" y="209550"/>
            <a:ext cx="4619625" cy="3857625"/>
          </a:xfrm>
          <a:prstGeom prst="roundRect">
            <a:avLst>
              <a:gd name="adj" fmla="val 1975"/>
            </a:avLst>
          </a:prstGeom>
          <a:solidFill>
            <a:srgbClr val="F2EFF8"/>
          </a:solidFill>
          <a:ln w="10001">
            <a:solidFill>
              <a:srgbClr val="85868E"/>
            </a:solidFill>
            <a:prstDash val="dash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7343775" y="209550"/>
            <a:ext cx="1571625" cy="3857625"/>
          </a:xfrm>
          <a:prstGeom prst="roundRect">
            <a:avLst>
              <a:gd name="adj" fmla="val 4848"/>
            </a:avLst>
          </a:prstGeom>
          <a:solidFill>
            <a:srgbClr val="EEF5F9"/>
          </a:solidFill>
          <a:ln w="10001">
            <a:solidFill>
              <a:srgbClr val="85868E"/>
            </a:solidFill>
            <a:prstDash val="dash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115425" y="209550"/>
            <a:ext cx="2847975" cy="3857625"/>
          </a:xfrm>
          <a:prstGeom prst="roundRect">
            <a:avLst>
              <a:gd name="adj" fmla="val 2676"/>
            </a:avLst>
          </a:prstGeom>
          <a:solidFill>
            <a:srgbClr val="FAEFF5"/>
          </a:solidFill>
          <a:ln w="10001">
            <a:solidFill>
              <a:srgbClr val="85868E"/>
            </a:solidFill>
            <a:prstDash val="dash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228600" y="4267200"/>
            <a:ext cx="5905500" cy="2390775"/>
          </a:xfrm>
          <a:prstGeom prst="roundRect">
            <a:avLst>
              <a:gd name="adj" fmla="val 3187"/>
            </a:avLst>
          </a:prstGeom>
          <a:solidFill>
            <a:srgbClr val="FBF4ED"/>
          </a:solidFill>
          <a:ln w="10001">
            <a:solidFill>
              <a:srgbClr val="85868E"/>
            </a:solidFill>
            <a:prstDash val="dash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6315075" y="4267200"/>
            <a:ext cx="2686050" cy="2390775"/>
          </a:xfrm>
          <a:prstGeom prst="roundRect">
            <a:avLst>
              <a:gd name="adj" fmla="val 3187"/>
            </a:avLst>
          </a:prstGeom>
          <a:solidFill>
            <a:srgbClr val="EEF5F9"/>
          </a:solidFill>
          <a:ln w="10001">
            <a:solidFill>
              <a:srgbClr val="85868E"/>
            </a:solidFill>
            <a:prstDash val="dash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9182100" y="4267200"/>
            <a:ext cx="2781300" cy="2390775"/>
          </a:xfrm>
          <a:prstGeom prst="roundRect">
            <a:avLst>
              <a:gd name="adj" fmla="val 3187"/>
            </a:avLst>
          </a:prstGeom>
          <a:solidFill>
            <a:srgbClr val="F2EFF8"/>
          </a:solidFill>
          <a:ln w="10001">
            <a:solidFill>
              <a:srgbClr val="85868E"/>
            </a:solidFill>
            <a:prstDash val="dash"/>
          </a:ln>
        </p:spPr>
      </p:sp>
      <p:sp>
        <p:nvSpPr>
          <p:cNvPr id="8" name="右箭头 7"/>
          <p:cNvSpPr>
            <a:spLocks noGrp="1"/>
          </p:cNvSpPr>
          <p:nvPr/>
        </p:nvSpPr>
        <p:spPr>
          <a:xfrm>
            <a:off x="2324100" y="2000250"/>
            <a:ext cx="200025" cy="161925"/>
          </a:xfrm>
          <a:prstGeom prst="rightArrow">
            <a:avLst/>
          </a:prstGeom>
          <a:solidFill>
            <a:srgbClr val="A7A3AA"/>
          </a:solidFill>
          <a:ln w="0">
            <a:noFill/>
            <a:prstDash val="solid"/>
          </a:ln>
        </p:spPr>
      </p:sp>
      <p:sp>
        <p:nvSpPr>
          <p:cNvPr id="9" name="右箭头 8"/>
          <p:cNvSpPr>
            <a:spLocks noGrp="1"/>
          </p:cNvSpPr>
          <p:nvPr/>
        </p:nvSpPr>
        <p:spPr>
          <a:xfrm>
            <a:off x="7143750" y="2000250"/>
            <a:ext cx="200025" cy="161925"/>
          </a:xfrm>
          <a:prstGeom prst="rightArrow">
            <a:avLst/>
          </a:prstGeom>
          <a:solidFill>
            <a:srgbClr val="A7A3AA"/>
          </a:solidFill>
          <a:ln w="0">
            <a:noFill/>
            <a:prstDash val="solid"/>
          </a:ln>
        </p:spPr>
      </p:sp>
      <p:sp>
        <p:nvSpPr>
          <p:cNvPr id="10" name="右箭头 9"/>
          <p:cNvSpPr>
            <a:spLocks noGrp="1"/>
          </p:cNvSpPr>
          <p:nvPr/>
        </p:nvSpPr>
        <p:spPr>
          <a:xfrm>
            <a:off x="8915400" y="2000250"/>
            <a:ext cx="200025" cy="161925"/>
          </a:xfrm>
          <a:prstGeom prst="rightArrow">
            <a:avLst/>
          </a:prstGeom>
          <a:solidFill>
            <a:srgbClr val="A7A3AA"/>
          </a:solidFill>
          <a:ln w="0">
            <a:noFill/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342900" y="3238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4343B"/>
                </a:solidFill>
              </a:defRPr>
            </a:pPr>
            <a:r>
              <a:rPr sz="1350" b="1">
                <a:solidFill>
                  <a:srgbClr val="34343B"/>
                </a:solidFill>
              </a:rPr>
              <a:t>Composition inputs</a:t>
            </a:r>
            <a:endParaRPr sz="1350" b="1">
              <a:solidFill>
                <a:srgbClr val="34343B"/>
              </a:solidFill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2667000" y="323850"/>
            <a:ext cx="433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4343B"/>
                </a:solidFill>
              </a:defRPr>
            </a:pPr>
            <a:r>
              <a:rPr sz="1350" b="1">
                <a:solidFill>
                  <a:srgbClr val="34343B"/>
                </a:solidFill>
              </a:rPr>
              <a:t>Dual-branch token encoder</a:t>
            </a:r>
            <a:endParaRPr sz="1350" b="1">
              <a:solidFill>
                <a:srgbClr val="34343B"/>
              </a:solidFill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7448550" y="323850"/>
            <a:ext cx="1362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4343B"/>
                </a:solidFill>
              </a:defRPr>
            </a:pPr>
            <a:r>
              <a:rPr sz="1350" b="1">
                <a:solidFill>
                  <a:srgbClr val="34343B"/>
                </a:solidFill>
              </a:rPr>
              <a:t>CLS gating</a:t>
            </a:r>
            <a:endParaRPr sz="1350" b="1">
              <a:solidFill>
                <a:srgbClr val="34343B"/>
              </a:solidFill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9239250" y="323850"/>
            <a:ext cx="2600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4343B"/>
                </a:solidFill>
              </a:defRPr>
            </a:pPr>
            <a:r>
              <a:rPr sz="1350" b="1">
                <a:solidFill>
                  <a:srgbClr val="34343B"/>
                </a:solidFill>
              </a:rPr>
              <a:t>Adhesion regression</a:t>
            </a:r>
            <a:endParaRPr sz="1350" b="1">
              <a:solidFill>
                <a:srgbClr val="34343B"/>
              </a:solidFill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352425" y="4352925"/>
            <a:ext cx="565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4343B"/>
                </a:solidFill>
              </a:defRPr>
            </a:pPr>
            <a:r>
              <a:rPr sz="1350" b="1">
                <a:solidFill>
                  <a:srgbClr val="34343B"/>
                </a:solidFill>
              </a:rPr>
              <a:t>Pre-norm residual block</a:t>
            </a:r>
            <a:endParaRPr sz="1350" b="1">
              <a:solidFill>
                <a:srgbClr val="34343B"/>
              </a:solidFill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6419850" y="43529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4343B"/>
                </a:solidFill>
              </a:defRPr>
            </a:pPr>
            <a:r>
              <a:rPr sz="1350" b="1">
                <a:solidFill>
                  <a:srgbClr val="34343B"/>
                </a:solidFill>
              </a:rPr>
              <a:t>Sparse self-attention</a:t>
            </a:r>
            <a:endParaRPr sz="1350" b="1">
              <a:solidFill>
                <a:srgbClr val="34343B"/>
              </a:solidFill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286875" y="43529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4343B"/>
                </a:solidFill>
              </a:defRPr>
            </a:pPr>
            <a:r>
              <a:rPr sz="1350" b="1">
                <a:solidFill>
                  <a:srgbClr val="34343B"/>
                </a:solidFill>
              </a:rPr>
              <a:t>Small-data training</a:t>
            </a:r>
            <a:endParaRPr sz="1350" b="1">
              <a:solidFill>
                <a:srgbClr val="34343B"/>
              </a:solidFill>
            </a:endParaRPr>
          </a:p>
        </p:txBody>
      </p:sp>
      <p:sp>
        <p:nvSpPr>
          <p:cNvPr id="315" name="f2-simplex"/>
          <p:cNvSpPr>
            <a:spLocks noGrp="1"/>
          </p:cNvSpPr>
          <p:nvPr/>
        </p:nvSpPr>
        <p:spPr>
          <a:xfrm>
            <a:off x="428625" y="66675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05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05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x ∈ S⁵    Σxᵢ = 1</a:t>
            </a:r>
            <a:endParaRPr sz="1050" b="1">
              <a:solidFill>
                <a:srgbClr val="A95E8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6" name="f2-raw-label"/>
          <p:cNvSpPr>
            <a:spLocks noGrp="1"/>
          </p:cNvSpPr>
          <p:nvPr/>
        </p:nvSpPr>
        <p:spPr>
          <a:xfrm>
            <a:off x="457200" y="981075"/>
            <a:ext cx="1638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75" b="1">
                <a:solidFill>
                  <a:srgbClr val="34343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75" b="1">
                <a:solidFill>
                  <a:srgbClr val="3434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Raw fractions</a:t>
            </a:r>
            <a:endParaRPr sz="975" b="1">
              <a:solidFill>
                <a:srgbClr val="3434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7" name="f2-input-HEA"/>
          <p:cNvSpPr>
            <a:spLocks noGrp="1"/>
          </p:cNvSpPr>
          <p:nvPr/>
        </p:nvSpPr>
        <p:spPr>
          <a:xfrm>
            <a:off x="371475" y="1304925"/>
            <a:ext cx="247650" cy="247650"/>
          </a:xfrm>
          <a:prstGeom prst="ellipse">
            <a:avLst/>
          </a:prstGeom>
          <a:solidFill>
            <a:srgbClr val="D487AD"/>
          </a:solidFill>
          <a:ln w="0">
            <a:solidFill>
              <a:srgbClr val="D487AD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HEA</a:t>
            </a:r>
            <a:endParaRPr sz="6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8" name="f2-input-BA"/>
          <p:cNvSpPr>
            <a:spLocks noGrp="1"/>
          </p:cNvSpPr>
          <p:nvPr/>
        </p:nvSpPr>
        <p:spPr>
          <a:xfrm>
            <a:off x="676275" y="1304925"/>
            <a:ext cx="247650" cy="247650"/>
          </a:xfrm>
          <a:prstGeom prst="ellipse">
            <a:avLst/>
          </a:prstGeom>
          <a:solidFill>
            <a:srgbClr val="75A9C8"/>
          </a:solidFill>
          <a:ln w="0">
            <a:solidFill>
              <a:srgbClr val="75A9C8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</a:t>
            </a:r>
            <a:endParaRPr sz="6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9" name="f2-input-CBEA"/>
          <p:cNvSpPr>
            <a:spLocks noGrp="1"/>
          </p:cNvSpPr>
          <p:nvPr/>
        </p:nvSpPr>
        <p:spPr>
          <a:xfrm>
            <a:off x="981075" y="1304925"/>
            <a:ext cx="247650" cy="247650"/>
          </a:xfrm>
          <a:prstGeom prst="ellipse">
            <a:avLst/>
          </a:prstGeom>
          <a:solidFill>
            <a:srgbClr val="88B6A5"/>
          </a:solidFill>
          <a:ln w="0">
            <a:solidFill>
              <a:srgbClr val="88B6A5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CB</a:t>
            </a:r>
            <a:endParaRPr sz="6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0" name="f2-input-ATAC"/>
          <p:cNvSpPr>
            <a:spLocks noGrp="1"/>
          </p:cNvSpPr>
          <p:nvPr/>
        </p:nvSpPr>
        <p:spPr>
          <a:xfrm>
            <a:off x="1285875" y="1304925"/>
            <a:ext cx="247650" cy="247650"/>
          </a:xfrm>
          <a:prstGeom prst="ellipse">
            <a:avLst/>
          </a:prstGeom>
          <a:solidFill>
            <a:srgbClr val="9A86BE"/>
          </a:solidFill>
          <a:ln w="0">
            <a:solidFill>
              <a:srgbClr val="9A86BE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</a:t>
            </a:r>
            <a:endParaRPr sz="6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1" name="f2-input-PEA"/>
          <p:cNvSpPr>
            <a:spLocks noGrp="1"/>
          </p:cNvSpPr>
          <p:nvPr/>
        </p:nvSpPr>
        <p:spPr>
          <a:xfrm>
            <a:off x="1590675" y="1304925"/>
            <a:ext cx="247650" cy="247650"/>
          </a:xfrm>
          <a:prstGeom prst="ellipse">
            <a:avLst/>
          </a:prstGeom>
          <a:solidFill>
            <a:srgbClr val="D7AE66"/>
          </a:solidFill>
          <a:ln w="0">
            <a:solidFill>
              <a:srgbClr val="D7AE66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PEA</a:t>
            </a:r>
            <a:endParaRPr sz="6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2" name="f2-input-AAm"/>
          <p:cNvSpPr>
            <a:spLocks noGrp="1"/>
          </p:cNvSpPr>
          <p:nvPr/>
        </p:nvSpPr>
        <p:spPr>
          <a:xfrm>
            <a:off x="1895475" y="1304925"/>
            <a:ext cx="247650" cy="247650"/>
          </a:xfrm>
          <a:prstGeom prst="ellipse">
            <a:avLst/>
          </a:prstGeom>
          <a:solidFill>
            <a:srgbClr val="A95E86"/>
          </a:solidFill>
          <a:ln w="0">
            <a:solidFill>
              <a:srgbClr val="A95E86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AAm</a:t>
            </a:r>
            <a:endParaRPr sz="6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3" name="f2-raw-dim"/>
          <p:cNvSpPr>
            <a:spLocks noGrp="1"/>
          </p:cNvSpPr>
          <p:nvPr/>
        </p:nvSpPr>
        <p:spPr>
          <a:xfrm>
            <a:off x="552450" y="16287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0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0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Xraw  [B × 6]</a:t>
            </a:r>
            <a:endParaRPr sz="900" b="1">
              <a:solidFill>
                <a:srgbClr val="A95E8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4" name="f2-pair-label"/>
          <p:cNvSpPr>
            <a:spLocks noGrp="1"/>
          </p:cNvSpPr>
          <p:nvPr/>
        </p:nvSpPr>
        <p:spPr>
          <a:xfrm>
            <a:off x="457200" y="2095500"/>
            <a:ext cx="1638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75" b="1">
                <a:solidFill>
                  <a:srgbClr val="34343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75" b="1">
                <a:solidFill>
                  <a:srgbClr val="34343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Pairwise interactions</a:t>
            </a:r>
            <a:endParaRPr sz="975" b="1">
              <a:solidFill>
                <a:srgbClr val="34343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5" name="pair-cell-0"/>
          <p:cNvSpPr>
            <a:spLocks noGrp="1"/>
          </p:cNvSpPr>
          <p:nvPr/>
        </p:nvSpPr>
        <p:spPr>
          <a:xfrm>
            <a:off x="704850" y="2390775"/>
            <a:ext cx="142875" cy="142875"/>
          </a:xfrm>
          <a:prstGeom prst="rect">
            <a:avLst/>
          </a:prstGeom>
          <a:solidFill>
            <a:srgbClr val="D487AD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26" name="pair-cell-1"/>
          <p:cNvSpPr>
            <a:spLocks noGrp="1"/>
          </p:cNvSpPr>
          <p:nvPr/>
        </p:nvSpPr>
        <p:spPr>
          <a:xfrm>
            <a:off x="857250" y="2390775"/>
            <a:ext cx="142875" cy="142875"/>
          </a:xfrm>
          <a:prstGeom prst="rect">
            <a:avLst/>
          </a:prstGeom>
          <a:solidFill>
            <a:srgbClr val="9A86BE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27" name="pair-cell-2"/>
          <p:cNvSpPr>
            <a:spLocks noGrp="1"/>
          </p:cNvSpPr>
          <p:nvPr/>
        </p:nvSpPr>
        <p:spPr>
          <a:xfrm>
            <a:off x="1009650" y="2390775"/>
            <a:ext cx="142875" cy="142875"/>
          </a:xfrm>
          <a:prstGeom prst="rect">
            <a:avLst/>
          </a:prstGeom>
          <a:solidFill>
            <a:srgbClr val="75A9C8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28" name="pair-cell-3"/>
          <p:cNvSpPr>
            <a:spLocks noGrp="1"/>
          </p:cNvSpPr>
          <p:nvPr/>
        </p:nvSpPr>
        <p:spPr>
          <a:xfrm>
            <a:off x="1162050" y="2390775"/>
            <a:ext cx="142875" cy="142875"/>
          </a:xfrm>
          <a:prstGeom prst="rect">
            <a:avLst/>
          </a:prstGeom>
          <a:solidFill>
            <a:srgbClr val="D487AD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29" name="pair-cell-4"/>
          <p:cNvSpPr>
            <a:spLocks noGrp="1"/>
          </p:cNvSpPr>
          <p:nvPr/>
        </p:nvSpPr>
        <p:spPr>
          <a:xfrm>
            <a:off x="1314450" y="2390775"/>
            <a:ext cx="142875" cy="142875"/>
          </a:xfrm>
          <a:prstGeom prst="rect">
            <a:avLst/>
          </a:prstGeom>
          <a:solidFill>
            <a:srgbClr val="9A86BE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30" name="pair-cell-5"/>
          <p:cNvSpPr>
            <a:spLocks noGrp="1"/>
          </p:cNvSpPr>
          <p:nvPr/>
        </p:nvSpPr>
        <p:spPr>
          <a:xfrm>
            <a:off x="857250" y="2543175"/>
            <a:ext cx="142875" cy="142875"/>
          </a:xfrm>
          <a:prstGeom prst="rect">
            <a:avLst/>
          </a:prstGeom>
          <a:solidFill>
            <a:srgbClr val="75A9C8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31" name="pair-cell-6"/>
          <p:cNvSpPr>
            <a:spLocks noGrp="1"/>
          </p:cNvSpPr>
          <p:nvPr/>
        </p:nvSpPr>
        <p:spPr>
          <a:xfrm>
            <a:off x="1009650" y="2543175"/>
            <a:ext cx="142875" cy="142875"/>
          </a:xfrm>
          <a:prstGeom prst="rect">
            <a:avLst/>
          </a:prstGeom>
          <a:solidFill>
            <a:srgbClr val="D487AD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32" name="pair-cell-7"/>
          <p:cNvSpPr>
            <a:spLocks noGrp="1"/>
          </p:cNvSpPr>
          <p:nvPr/>
        </p:nvSpPr>
        <p:spPr>
          <a:xfrm>
            <a:off x="1162050" y="2543175"/>
            <a:ext cx="142875" cy="142875"/>
          </a:xfrm>
          <a:prstGeom prst="rect">
            <a:avLst/>
          </a:prstGeom>
          <a:solidFill>
            <a:srgbClr val="9A86BE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33" name="pair-cell-8"/>
          <p:cNvSpPr>
            <a:spLocks noGrp="1"/>
          </p:cNvSpPr>
          <p:nvPr/>
        </p:nvSpPr>
        <p:spPr>
          <a:xfrm>
            <a:off x="1314450" y="2543175"/>
            <a:ext cx="142875" cy="142875"/>
          </a:xfrm>
          <a:prstGeom prst="rect">
            <a:avLst/>
          </a:prstGeom>
          <a:solidFill>
            <a:srgbClr val="75A9C8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34" name="pair-cell-9"/>
          <p:cNvSpPr>
            <a:spLocks noGrp="1"/>
          </p:cNvSpPr>
          <p:nvPr/>
        </p:nvSpPr>
        <p:spPr>
          <a:xfrm>
            <a:off x="1009650" y="2695575"/>
            <a:ext cx="142875" cy="142875"/>
          </a:xfrm>
          <a:prstGeom prst="rect">
            <a:avLst/>
          </a:prstGeom>
          <a:solidFill>
            <a:srgbClr val="D487AD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35" name="pair-cell-10"/>
          <p:cNvSpPr>
            <a:spLocks noGrp="1"/>
          </p:cNvSpPr>
          <p:nvPr/>
        </p:nvSpPr>
        <p:spPr>
          <a:xfrm>
            <a:off x="1162050" y="2695575"/>
            <a:ext cx="142875" cy="142875"/>
          </a:xfrm>
          <a:prstGeom prst="rect">
            <a:avLst/>
          </a:prstGeom>
          <a:solidFill>
            <a:srgbClr val="9A86BE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36" name="pair-cell-11"/>
          <p:cNvSpPr>
            <a:spLocks noGrp="1"/>
          </p:cNvSpPr>
          <p:nvPr/>
        </p:nvSpPr>
        <p:spPr>
          <a:xfrm>
            <a:off x="1314450" y="2695575"/>
            <a:ext cx="142875" cy="142875"/>
          </a:xfrm>
          <a:prstGeom prst="rect">
            <a:avLst/>
          </a:prstGeom>
          <a:solidFill>
            <a:srgbClr val="75A9C8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37" name="pair-cell-12"/>
          <p:cNvSpPr>
            <a:spLocks noGrp="1"/>
          </p:cNvSpPr>
          <p:nvPr/>
        </p:nvSpPr>
        <p:spPr>
          <a:xfrm>
            <a:off x="1162050" y="2847975"/>
            <a:ext cx="142875" cy="142875"/>
          </a:xfrm>
          <a:prstGeom prst="rect">
            <a:avLst/>
          </a:prstGeom>
          <a:solidFill>
            <a:srgbClr val="D487AD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38" name="pair-cell-13"/>
          <p:cNvSpPr>
            <a:spLocks noGrp="1"/>
          </p:cNvSpPr>
          <p:nvPr/>
        </p:nvSpPr>
        <p:spPr>
          <a:xfrm>
            <a:off x="1314450" y="2847975"/>
            <a:ext cx="142875" cy="142875"/>
          </a:xfrm>
          <a:prstGeom prst="rect">
            <a:avLst/>
          </a:prstGeom>
          <a:solidFill>
            <a:srgbClr val="9A86BE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39" name="pair-cell-14"/>
          <p:cNvSpPr>
            <a:spLocks noGrp="1"/>
          </p:cNvSpPr>
          <p:nvPr/>
        </p:nvSpPr>
        <p:spPr>
          <a:xfrm>
            <a:off x="1314450" y="3000375"/>
            <a:ext cx="142875" cy="142875"/>
          </a:xfrm>
          <a:prstGeom prst="rect">
            <a:avLst/>
          </a:prstGeom>
          <a:solidFill>
            <a:srgbClr val="75A9C8"/>
          </a:solidFill>
          <a:ln w="4763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340" name="f2-pair-eq"/>
          <p:cNvSpPr>
            <a:spLocks noGrp="1"/>
          </p:cNvSpPr>
          <p:nvPr/>
        </p:nvSpPr>
        <p:spPr>
          <a:xfrm>
            <a:off x="495300" y="323850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0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0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zᵢⱼ = xᵢxⱼ    i &lt; j</a:t>
            </a:r>
            <a:endParaRPr sz="900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1" name="f2-pair-dim"/>
          <p:cNvSpPr>
            <a:spLocks noGrp="1"/>
          </p:cNvSpPr>
          <p:nvPr/>
        </p:nvSpPr>
        <p:spPr>
          <a:xfrm>
            <a:off x="542925" y="3543300"/>
            <a:ext cx="1466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0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0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Xpair  [B × 15]</a:t>
            </a:r>
            <a:endParaRPr sz="900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2" name="f2-tok-raw"/>
          <p:cNvSpPr>
            <a:spLocks noGrp="1"/>
          </p:cNvSpPr>
          <p:nvPr/>
        </p:nvSpPr>
        <p:spPr>
          <a:xfrm>
            <a:off x="2686050" y="800100"/>
            <a:ext cx="8382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487AD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90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0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Block</a:t>
            </a:r>
            <a:endParaRPr sz="900" b="1">
              <a:solidFill>
                <a:srgbClr val="A95E8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defRPr sz="90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0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Tokenizer</a:t>
            </a:r>
            <a:endParaRPr sz="900" b="1">
              <a:solidFill>
                <a:srgbClr val="A95E8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3" name="f2-tok-pair"/>
          <p:cNvSpPr>
            <a:spLocks noGrp="1"/>
          </p:cNvSpPr>
          <p:nvPr/>
        </p:nvSpPr>
        <p:spPr>
          <a:xfrm>
            <a:off x="2686050" y="2390775"/>
            <a:ext cx="8382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90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0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Block</a:t>
            </a:r>
            <a:endParaRPr sz="900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defRPr sz="90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0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Tokenizer</a:t>
            </a:r>
            <a:endParaRPr sz="900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4" name="f2-raw-token-mini-0"/>
          <p:cNvSpPr>
            <a:spLocks noGrp="1"/>
          </p:cNvSpPr>
          <p:nvPr/>
        </p:nvSpPr>
        <p:spPr>
          <a:xfrm>
            <a:off x="3676650" y="895350"/>
            <a:ext cx="171450" cy="400050"/>
          </a:xfrm>
          <a:prstGeom prst="rect">
            <a:avLst/>
          </a:prstGeom>
          <a:solidFill>
            <a:srgbClr val="D487AD"/>
          </a:solidFill>
          <a:ln w="6668">
            <a:solidFill>
              <a:srgbClr val="A95E86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45" name="f2-raw-token-mini-1"/>
          <p:cNvSpPr>
            <a:spLocks noGrp="1"/>
          </p:cNvSpPr>
          <p:nvPr/>
        </p:nvSpPr>
        <p:spPr>
          <a:xfrm>
            <a:off x="3762375" y="923925"/>
            <a:ext cx="171450" cy="400050"/>
          </a:xfrm>
          <a:prstGeom prst="rect">
            <a:avLst/>
          </a:prstGeom>
          <a:solidFill>
            <a:srgbClr val="FAEFF5"/>
          </a:solidFill>
          <a:ln w="6668">
            <a:solidFill>
              <a:srgbClr val="A95E86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46" name="f2-raw-token-mini-2"/>
          <p:cNvSpPr>
            <a:spLocks noGrp="1"/>
          </p:cNvSpPr>
          <p:nvPr/>
        </p:nvSpPr>
        <p:spPr>
          <a:xfrm>
            <a:off x="3848100" y="952500"/>
            <a:ext cx="171450" cy="400050"/>
          </a:xfrm>
          <a:prstGeom prst="rect">
            <a:avLst/>
          </a:prstGeom>
          <a:solidFill>
            <a:srgbClr val="D487AD"/>
          </a:solidFill>
          <a:ln w="6668">
            <a:solidFill>
              <a:srgbClr val="A95E86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47" name="f2-raw-token-mini-3"/>
          <p:cNvSpPr>
            <a:spLocks noGrp="1"/>
          </p:cNvSpPr>
          <p:nvPr/>
        </p:nvSpPr>
        <p:spPr>
          <a:xfrm>
            <a:off x="3933825" y="981075"/>
            <a:ext cx="171450" cy="400050"/>
          </a:xfrm>
          <a:prstGeom prst="rect">
            <a:avLst/>
          </a:prstGeom>
          <a:solidFill>
            <a:srgbClr val="FAEFF5"/>
          </a:solidFill>
          <a:ln w="6668">
            <a:solidFill>
              <a:srgbClr val="A95E86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48" name="f2-raw-token-mini-4"/>
          <p:cNvSpPr>
            <a:spLocks noGrp="1"/>
          </p:cNvSpPr>
          <p:nvPr/>
        </p:nvSpPr>
        <p:spPr>
          <a:xfrm>
            <a:off x="4019550" y="1009650"/>
            <a:ext cx="171450" cy="400050"/>
          </a:xfrm>
          <a:prstGeom prst="rect">
            <a:avLst/>
          </a:prstGeom>
          <a:solidFill>
            <a:srgbClr val="D487AD"/>
          </a:solidFill>
          <a:ln w="6668">
            <a:solidFill>
              <a:srgbClr val="A95E86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49" name="f2-raw-token-mini-5"/>
          <p:cNvSpPr>
            <a:spLocks noGrp="1"/>
          </p:cNvSpPr>
          <p:nvPr/>
        </p:nvSpPr>
        <p:spPr>
          <a:xfrm>
            <a:off x="4105275" y="1038225"/>
            <a:ext cx="171450" cy="400050"/>
          </a:xfrm>
          <a:prstGeom prst="rect">
            <a:avLst/>
          </a:prstGeom>
          <a:solidFill>
            <a:srgbClr val="FAEFF5"/>
          </a:solidFill>
          <a:ln w="6668">
            <a:solidFill>
              <a:srgbClr val="A95E86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50" name="f2-pair-token-mini-0"/>
          <p:cNvSpPr>
            <a:spLocks noGrp="1"/>
          </p:cNvSpPr>
          <p:nvPr/>
        </p:nvSpPr>
        <p:spPr>
          <a:xfrm>
            <a:off x="3762375" y="2486025"/>
            <a:ext cx="190500" cy="400050"/>
          </a:xfrm>
          <a:prstGeom prst="rect">
            <a:avLst/>
          </a:prstGeom>
          <a:solidFill>
            <a:srgbClr val="75A9C8"/>
          </a:solidFill>
          <a:ln w="6668">
            <a:solidFill>
              <a:srgbClr val="4E7F9D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51" name="f2-pair-token-mini-1"/>
          <p:cNvSpPr>
            <a:spLocks noGrp="1"/>
          </p:cNvSpPr>
          <p:nvPr/>
        </p:nvSpPr>
        <p:spPr>
          <a:xfrm>
            <a:off x="3867150" y="2524125"/>
            <a:ext cx="190500" cy="400050"/>
          </a:xfrm>
          <a:prstGeom prst="rect">
            <a:avLst/>
          </a:prstGeom>
          <a:solidFill>
            <a:srgbClr val="EEF5F9"/>
          </a:solidFill>
          <a:ln w="6668">
            <a:solidFill>
              <a:srgbClr val="4E7F9D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52" name="f2-pair-token-mini-2"/>
          <p:cNvSpPr>
            <a:spLocks noGrp="1"/>
          </p:cNvSpPr>
          <p:nvPr/>
        </p:nvSpPr>
        <p:spPr>
          <a:xfrm>
            <a:off x="3971925" y="2562225"/>
            <a:ext cx="190500" cy="400050"/>
          </a:xfrm>
          <a:prstGeom prst="rect">
            <a:avLst/>
          </a:prstGeom>
          <a:solidFill>
            <a:srgbClr val="75A9C8"/>
          </a:solidFill>
          <a:ln w="6668">
            <a:solidFill>
              <a:srgbClr val="4E7F9D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53" name="f2-pair-token-mini-3"/>
          <p:cNvSpPr>
            <a:spLocks noGrp="1"/>
          </p:cNvSpPr>
          <p:nvPr/>
        </p:nvSpPr>
        <p:spPr>
          <a:xfrm>
            <a:off x="4076700" y="2600325"/>
            <a:ext cx="190500" cy="400050"/>
          </a:xfrm>
          <a:prstGeom prst="rect">
            <a:avLst/>
          </a:prstGeom>
          <a:solidFill>
            <a:srgbClr val="EEF5F9"/>
          </a:solidFill>
          <a:ln w="6668">
            <a:solidFill>
              <a:srgbClr val="4E7F9D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54" name="f2-raw-token-count"/>
          <p:cNvSpPr>
            <a:spLocks noGrp="1"/>
          </p:cNvSpPr>
          <p:nvPr/>
        </p:nvSpPr>
        <p:spPr>
          <a:xfrm>
            <a:off x="3619500" y="136207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825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 tokens</a:t>
            </a:r>
            <a:endParaRPr sz="825" b="1">
              <a:solidFill>
                <a:srgbClr val="A95E8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55" name="f2-pair-token-count"/>
          <p:cNvSpPr>
            <a:spLocks noGrp="1"/>
          </p:cNvSpPr>
          <p:nvPr/>
        </p:nvSpPr>
        <p:spPr>
          <a:xfrm>
            <a:off x="3619500" y="29813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82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 tokens</a:t>
            </a:r>
            <a:endParaRPr sz="825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56" name="f2-token-sequence-frame"/>
          <p:cNvSpPr>
            <a:spLocks noGrp="1"/>
          </p:cNvSpPr>
          <p:nvPr/>
        </p:nvSpPr>
        <p:spPr>
          <a:xfrm>
            <a:off x="4276725" y="876300"/>
            <a:ext cx="323850" cy="22098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1430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57" name="f2-cls-token"/>
          <p:cNvSpPr>
            <a:spLocks noGrp="1"/>
          </p:cNvSpPr>
          <p:nvPr/>
        </p:nvSpPr>
        <p:spPr>
          <a:xfrm>
            <a:off x="4333875" y="942975"/>
            <a:ext cx="20955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715B99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75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75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</a:t>
            </a:r>
            <a:endParaRPr sz="675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58" name="f2-seq-raw-0"/>
          <p:cNvSpPr>
            <a:spLocks noGrp="1"/>
          </p:cNvSpPr>
          <p:nvPr/>
        </p:nvSpPr>
        <p:spPr>
          <a:xfrm>
            <a:off x="4333875" y="1162050"/>
            <a:ext cx="209550" cy="133350"/>
          </a:xfrm>
          <a:prstGeom prst="rect">
            <a:avLst/>
          </a:prstGeom>
          <a:solidFill>
            <a:srgbClr val="D487AD"/>
          </a:solidFill>
          <a:ln w="4763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59" name="f2-seq-raw-1"/>
          <p:cNvSpPr>
            <a:spLocks noGrp="1"/>
          </p:cNvSpPr>
          <p:nvPr/>
        </p:nvSpPr>
        <p:spPr>
          <a:xfrm>
            <a:off x="4333875" y="1323975"/>
            <a:ext cx="209550" cy="133350"/>
          </a:xfrm>
          <a:prstGeom prst="rect">
            <a:avLst/>
          </a:prstGeom>
          <a:solidFill>
            <a:srgbClr val="D487AD"/>
          </a:solidFill>
          <a:ln w="4763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60" name="f2-seq-raw-2"/>
          <p:cNvSpPr>
            <a:spLocks noGrp="1"/>
          </p:cNvSpPr>
          <p:nvPr/>
        </p:nvSpPr>
        <p:spPr>
          <a:xfrm>
            <a:off x="4333875" y="1485900"/>
            <a:ext cx="209550" cy="133350"/>
          </a:xfrm>
          <a:prstGeom prst="rect">
            <a:avLst/>
          </a:prstGeom>
          <a:solidFill>
            <a:srgbClr val="D487AD"/>
          </a:solidFill>
          <a:ln w="4763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61" name="f2-seq-raw-3"/>
          <p:cNvSpPr>
            <a:spLocks noGrp="1"/>
          </p:cNvSpPr>
          <p:nvPr/>
        </p:nvSpPr>
        <p:spPr>
          <a:xfrm>
            <a:off x="4333875" y="1647825"/>
            <a:ext cx="209550" cy="133350"/>
          </a:xfrm>
          <a:prstGeom prst="rect">
            <a:avLst/>
          </a:prstGeom>
          <a:solidFill>
            <a:srgbClr val="D487AD"/>
          </a:solidFill>
          <a:ln w="4763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62" name="f2-seq-raw-4"/>
          <p:cNvSpPr>
            <a:spLocks noGrp="1"/>
          </p:cNvSpPr>
          <p:nvPr/>
        </p:nvSpPr>
        <p:spPr>
          <a:xfrm>
            <a:off x="4333875" y="1809750"/>
            <a:ext cx="209550" cy="133350"/>
          </a:xfrm>
          <a:prstGeom prst="rect">
            <a:avLst/>
          </a:prstGeom>
          <a:solidFill>
            <a:srgbClr val="D487AD"/>
          </a:solidFill>
          <a:ln w="4763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63" name="f2-seq-raw-5"/>
          <p:cNvSpPr>
            <a:spLocks noGrp="1"/>
          </p:cNvSpPr>
          <p:nvPr/>
        </p:nvSpPr>
        <p:spPr>
          <a:xfrm>
            <a:off x="4333875" y="1971675"/>
            <a:ext cx="209550" cy="133350"/>
          </a:xfrm>
          <a:prstGeom prst="rect">
            <a:avLst/>
          </a:prstGeom>
          <a:solidFill>
            <a:srgbClr val="D487AD"/>
          </a:solidFill>
          <a:ln w="4763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64" name="f2-seq-pair-0"/>
          <p:cNvSpPr>
            <a:spLocks noGrp="1"/>
          </p:cNvSpPr>
          <p:nvPr/>
        </p:nvSpPr>
        <p:spPr>
          <a:xfrm>
            <a:off x="4333875" y="2171700"/>
            <a:ext cx="209550" cy="133350"/>
          </a:xfrm>
          <a:prstGeom prst="rect">
            <a:avLst/>
          </a:prstGeom>
          <a:solidFill>
            <a:srgbClr val="75A9C8"/>
          </a:solidFill>
          <a:ln w="4763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65" name="f2-seq-pair-1"/>
          <p:cNvSpPr>
            <a:spLocks noGrp="1"/>
          </p:cNvSpPr>
          <p:nvPr/>
        </p:nvSpPr>
        <p:spPr>
          <a:xfrm>
            <a:off x="4333875" y="2333625"/>
            <a:ext cx="209550" cy="133350"/>
          </a:xfrm>
          <a:prstGeom prst="rect">
            <a:avLst/>
          </a:prstGeom>
          <a:solidFill>
            <a:srgbClr val="75A9C8"/>
          </a:solidFill>
          <a:ln w="4763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66" name="f2-seq-pair-2"/>
          <p:cNvSpPr>
            <a:spLocks noGrp="1"/>
          </p:cNvSpPr>
          <p:nvPr/>
        </p:nvSpPr>
        <p:spPr>
          <a:xfrm>
            <a:off x="4333875" y="2495550"/>
            <a:ext cx="209550" cy="133350"/>
          </a:xfrm>
          <a:prstGeom prst="rect">
            <a:avLst/>
          </a:prstGeom>
          <a:solidFill>
            <a:srgbClr val="75A9C8"/>
          </a:solidFill>
          <a:ln w="4763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67" name="f2-seq-pair-3"/>
          <p:cNvSpPr>
            <a:spLocks noGrp="1"/>
          </p:cNvSpPr>
          <p:nvPr/>
        </p:nvSpPr>
        <p:spPr>
          <a:xfrm>
            <a:off x="4333875" y="2657475"/>
            <a:ext cx="209550" cy="133350"/>
          </a:xfrm>
          <a:prstGeom prst="rect">
            <a:avLst/>
          </a:prstGeom>
          <a:solidFill>
            <a:srgbClr val="75A9C8"/>
          </a:solidFill>
          <a:ln w="4763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68" name="f2-sequence-label"/>
          <p:cNvSpPr>
            <a:spLocks noGrp="1"/>
          </p:cNvSpPr>
          <p:nvPr/>
        </p:nvSpPr>
        <p:spPr>
          <a:xfrm>
            <a:off x="4105275" y="31337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7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CLS + tokens</a:t>
            </a:r>
            <a:endParaRPr sz="750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69" name="f2-res1-back"/>
          <p:cNvSpPr>
            <a:spLocks noGrp="1"/>
          </p:cNvSpPr>
          <p:nvPr/>
        </p:nvSpPr>
        <p:spPr>
          <a:xfrm>
            <a:off x="4743450" y="1095375"/>
            <a:ext cx="552450" cy="971550"/>
          </a:xfrm>
          <a:prstGeom prst="rect">
            <a:avLst/>
          </a:prstGeom>
          <a:solidFill>
            <a:srgbClr val="F2EFF8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70" name="f2-res1-mid"/>
          <p:cNvSpPr>
            <a:spLocks noGrp="1"/>
          </p:cNvSpPr>
          <p:nvPr/>
        </p:nvSpPr>
        <p:spPr>
          <a:xfrm>
            <a:off x="4791075" y="1047750"/>
            <a:ext cx="552450" cy="971550"/>
          </a:xfrm>
          <a:prstGeom prst="rect">
            <a:avLst/>
          </a:prstGeom>
          <a:solidFill>
            <a:srgbClr val="E1DAEF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71" name="f2-res-1"/>
          <p:cNvSpPr>
            <a:spLocks noGrp="1"/>
          </p:cNvSpPr>
          <p:nvPr/>
        </p:nvSpPr>
        <p:spPr>
          <a:xfrm>
            <a:off x="4838700" y="1000125"/>
            <a:ext cx="552450" cy="971550"/>
          </a:xfrm>
          <a:prstGeom prst="rect">
            <a:avLst/>
          </a:prstGeom>
          <a:solidFill>
            <a:srgbClr val="9A86BE"/>
          </a:solidFill>
          <a:ln w="9525">
            <a:solidFill>
              <a:srgbClr val="715B99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</a:t>
            </a:r>
            <a:endParaRPr sz="975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defRPr sz="9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Block</a:t>
            </a:r>
            <a:endParaRPr sz="975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defRPr sz="9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975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72" name="f2-res2-back"/>
          <p:cNvSpPr>
            <a:spLocks noGrp="1"/>
          </p:cNvSpPr>
          <p:nvPr/>
        </p:nvSpPr>
        <p:spPr>
          <a:xfrm>
            <a:off x="5553075" y="1095375"/>
            <a:ext cx="552450" cy="971550"/>
          </a:xfrm>
          <a:prstGeom prst="rect">
            <a:avLst/>
          </a:prstGeom>
          <a:solidFill>
            <a:srgbClr val="F2EFF8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73" name="f2-res2-mid"/>
          <p:cNvSpPr>
            <a:spLocks noGrp="1"/>
          </p:cNvSpPr>
          <p:nvPr/>
        </p:nvSpPr>
        <p:spPr>
          <a:xfrm>
            <a:off x="5600700" y="1047750"/>
            <a:ext cx="552450" cy="971550"/>
          </a:xfrm>
          <a:prstGeom prst="rect">
            <a:avLst/>
          </a:prstGeom>
          <a:solidFill>
            <a:srgbClr val="E1DAEF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74" name="f2-res-2"/>
          <p:cNvSpPr>
            <a:spLocks noGrp="1"/>
          </p:cNvSpPr>
          <p:nvPr/>
        </p:nvSpPr>
        <p:spPr>
          <a:xfrm>
            <a:off x="5648325" y="1000125"/>
            <a:ext cx="552450" cy="971550"/>
          </a:xfrm>
          <a:prstGeom prst="rect">
            <a:avLst/>
          </a:prstGeom>
          <a:solidFill>
            <a:srgbClr val="715B99"/>
          </a:solidFill>
          <a:ln w="9525">
            <a:solidFill>
              <a:srgbClr val="715B99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</a:t>
            </a:r>
            <a:endParaRPr sz="975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defRPr sz="9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Block</a:t>
            </a:r>
            <a:endParaRPr sz="975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defRPr sz="9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975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75" name="f2-attn-frame"/>
          <p:cNvSpPr>
            <a:spLocks noGrp="1"/>
          </p:cNvSpPr>
          <p:nvPr/>
        </p:nvSpPr>
        <p:spPr>
          <a:xfrm>
            <a:off x="6400800" y="819150"/>
            <a:ext cx="609600" cy="14859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76" name="f2-attn-title"/>
          <p:cNvSpPr>
            <a:spLocks noGrp="1"/>
          </p:cNvSpPr>
          <p:nvPr/>
        </p:nvSpPr>
        <p:spPr>
          <a:xfrm>
            <a:off x="6457950" y="885825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82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Sparse</a:t>
            </a:r>
            <a:endParaRPr sz="825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defRPr sz="82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MHA</a:t>
            </a:r>
            <a:endParaRPr sz="825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77" name="f2-main-Q"/>
          <p:cNvSpPr>
            <a:spLocks noGrp="1"/>
          </p:cNvSpPr>
          <p:nvPr/>
        </p:nvSpPr>
        <p:spPr>
          <a:xfrm>
            <a:off x="6477000" y="1285875"/>
            <a:ext cx="142875" cy="371475"/>
          </a:xfrm>
          <a:prstGeom prst="rect">
            <a:avLst/>
          </a:prstGeom>
          <a:solidFill>
            <a:srgbClr val="D487AD"/>
          </a:solidFill>
          <a:ln w="9525">
            <a:solidFill>
              <a:srgbClr val="D487AD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</a:t>
            </a:r>
            <a:endParaRPr sz="675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78" name="f2-main-K"/>
          <p:cNvSpPr>
            <a:spLocks noGrp="1"/>
          </p:cNvSpPr>
          <p:nvPr/>
        </p:nvSpPr>
        <p:spPr>
          <a:xfrm>
            <a:off x="6648450" y="1285875"/>
            <a:ext cx="142875" cy="371475"/>
          </a:xfrm>
          <a:prstGeom prst="rect">
            <a:avLst/>
          </a:prstGeom>
          <a:solidFill>
            <a:srgbClr val="9A86BE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</a:t>
            </a:r>
            <a:endParaRPr sz="675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79" name="f2-main-V"/>
          <p:cNvSpPr>
            <a:spLocks noGrp="1"/>
          </p:cNvSpPr>
          <p:nvPr/>
        </p:nvSpPr>
        <p:spPr>
          <a:xfrm>
            <a:off x="6819900" y="1285875"/>
            <a:ext cx="142875" cy="371475"/>
          </a:xfrm>
          <a:prstGeom prst="rect">
            <a:avLst/>
          </a:prstGeom>
          <a:solidFill>
            <a:srgbClr val="75A9C8"/>
          </a:solidFill>
          <a:ln w="9525">
            <a:solidFill>
              <a:srgbClr val="75A9C8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7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</a:t>
            </a:r>
            <a:endParaRPr sz="675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80" name="f2-main-attn-cell-0-0"/>
          <p:cNvSpPr>
            <a:spLocks noGrp="1"/>
          </p:cNvSpPr>
          <p:nvPr/>
        </p:nvSpPr>
        <p:spPr>
          <a:xfrm>
            <a:off x="6534150" y="1752600"/>
            <a:ext cx="76200" cy="76200"/>
          </a:xfrm>
          <a:prstGeom prst="rect">
            <a:avLst/>
          </a:prstGeom>
          <a:solidFill>
            <a:srgbClr val="D487AD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81" name="f2-main-attn-cell-0-1"/>
          <p:cNvSpPr>
            <a:spLocks noGrp="1"/>
          </p:cNvSpPr>
          <p:nvPr/>
        </p:nvSpPr>
        <p:spPr>
          <a:xfrm>
            <a:off x="6619875" y="1752600"/>
            <a:ext cx="76200" cy="76200"/>
          </a:xfrm>
          <a:prstGeom prst="rect">
            <a:avLst/>
          </a:prstGeom>
          <a:solidFill>
            <a:srgbClr val="9A86BE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82" name="f2-main-attn-cell-0-2"/>
          <p:cNvSpPr>
            <a:spLocks noGrp="1"/>
          </p:cNvSpPr>
          <p:nvPr/>
        </p:nvSpPr>
        <p:spPr>
          <a:xfrm>
            <a:off x="6705600" y="1752600"/>
            <a:ext cx="76200" cy="76200"/>
          </a:xfrm>
          <a:prstGeom prst="rect">
            <a:avLst/>
          </a:prstGeom>
          <a:solidFill>
            <a:srgbClr val="75A9C8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83" name="f2-main-attn-cell-0-3"/>
          <p:cNvSpPr>
            <a:spLocks noGrp="1"/>
          </p:cNvSpPr>
          <p:nvPr/>
        </p:nvSpPr>
        <p:spPr>
          <a:xfrm>
            <a:off x="6791325" y="1752600"/>
            <a:ext cx="76200" cy="76200"/>
          </a:xfrm>
          <a:prstGeom prst="rect">
            <a:avLst/>
          </a:prstGeom>
          <a:solidFill>
            <a:srgbClr val="D487AD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84" name="f2-main-attn-cell-1-0"/>
          <p:cNvSpPr>
            <a:spLocks noGrp="1"/>
          </p:cNvSpPr>
          <p:nvPr/>
        </p:nvSpPr>
        <p:spPr>
          <a:xfrm>
            <a:off x="6534150" y="1838325"/>
            <a:ext cx="76200" cy="76200"/>
          </a:xfrm>
          <a:prstGeom prst="rect">
            <a:avLst/>
          </a:prstGeom>
          <a:solidFill>
            <a:srgbClr val="9A86BE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85" name="f2-main-attn-cell-1-1"/>
          <p:cNvSpPr>
            <a:spLocks noGrp="1"/>
          </p:cNvSpPr>
          <p:nvPr/>
        </p:nvSpPr>
        <p:spPr>
          <a:xfrm>
            <a:off x="6619875" y="1838325"/>
            <a:ext cx="76200" cy="76200"/>
          </a:xfrm>
          <a:prstGeom prst="rect">
            <a:avLst/>
          </a:prstGeom>
          <a:solidFill>
            <a:srgbClr val="75A9C8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86" name="f2-main-attn-cell-1-2"/>
          <p:cNvSpPr>
            <a:spLocks noGrp="1"/>
          </p:cNvSpPr>
          <p:nvPr/>
        </p:nvSpPr>
        <p:spPr>
          <a:xfrm>
            <a:off x="6705600" y="1838325"/>
            <a:ext cx="76200" cy="76200"/>
          </a:xfrm>
          <a:prstGeom prst="rect">
            <a:avLst/>
          </a:prstGeom>
          <a:solidFill>
            <a:srgbClr val="D487AD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87" name="f2-main-attn-cell-1-3"/>
          <p:cNvSpPr>
            <a:spLocks noGrp="1"/>
          </p:cNvSpPr>
          <p:nvPr/>
        </p:nvSpPr>
        <p:spPr>
          <a:xfrm>
            <a:off x="6791325" y="1838325"/>
            <a:ext cx="76200" cy="76200"/>
          </a:xfrm>
          <a:prstGeom prst="rect">
            <a:avLst/>
          </a:prstGeom>
          <a:solidFill>
            <a:srgbClr val="9A86BE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88" name="f2-main-attn-cell-2-0"/>
          <p:cNvSpPr>
            <a:spLocks noGrp="1"/>
          </p:cNvSpPr>
          <p:nvPr/>
        </p:nvSpPr>
        <p:spPr>
          <a:xfrm>
            <a:off x="6534150" y="1924050"/>
            <a:ext cx="76200" cy="76200"/>
          </a:xfrm>
          <a:prstGeom prst="rect">
            <a:avLst/>
          </a:prstGeom>
          <a:solidFill>
            <a:srgbClr val="75A9C8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89" name="f2-main-attn-cell-2-1"/>
          <p:cNvSpPr>
            <a:spLocks noGrp="1"/>
          </p:cNvSpPr>
          <p:nvPr/>
        </p:nvSpPr>
        <p:spPr>
          <a:xfrm>
            <a:off x="6619875" y="1924050"/>
            <a:ext cx="76200" cy="76200"/>
          </a:xfrm>
          <a:prstGeom prst="rect">
            <a:avLst/>
          </a:prstGeom>
          <a:solidFill>
            <a:srgbClr val="D487AD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90" name="f2-main-attn-cell-2-2"/>
          <p:cNvSpPr>
            <a:spLocks noGrp="1"/>
          </p:cNvSpPr>
          <p:nvPr/>
        </p:nvSpPr>
        <p:spPr>
          <a:xfrm>
            <a:off x="6705600" y="1924050"/>
            <a:ext cx="76200" cy="76200"/>
          </a:xfrm>
          <a:prstGeom prst="rect">
            <a:avLst/>
          </a:prstGeom>
          <a:solidFill>
            <a:srgbClr val="9A86BE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91" name="f2-main-attn-cell-2-3"/>
          <p:cNvSpPr>
            <a:spLocks noGrp="1"/>
          </p:cNvSpPr>
          <p:nvPr/>
        </p:nvSpPr>
        <p:spPr>
          <a:xfrm>
            <a:off x="6791325" y="1924050"/>
            <a:ext cx="76200" cy="76200"/>
          </a:xfrm>
          <a:prstGeom prst="rect">
            <a:avLst/>
          </a:prstGeom>
          <a:solidFill>
            <a:srgbClr val="75A9C8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92" name="f2-main-attn-cell-3-0"/>
          <p:cNvSpPr>
            <a:spLocks noGrp="1"/>
          </p:cNvSpPr>
          <p:nvPr/>
        </p:nvSpPr>
        <p:spPr>
          <a:xfrm>
            <a:off x="6534150" y="2009775"/>
            <a:ext cx="76200" cy="76200"/>
          </a:xfrm>
          <a:prstGeom prst="rect">
            <a:avLst/>
          </a:prstGeom>
          <a:solidFill>
            <a:srgbClr val="D487AD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93" name="f2-main-attn-cell-3-1"/>
          <p:cNvSpPr>
            <a:spLocks noGrp="1"/>
          </p:cNvSpPr>
          <p:nvPr/>
        </p:nvSpPr>
        <p:spPr>
          <a:xfrm>
            <a:off x="6619875" y="2009775"/>
            <a:ext cx="76200" cy="76200"/>
          </a:xfrm>
          <a:prstGeom prst="rect">
            <a:avLst/>
          </a:prstGeom>
          <a:solidFill>
            <a:srgbClr val="9A86BE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94" name="f2-main-attn-cell-3-2"/>
          <p:cNvSpPr>
            <a:spLocks noGrp="1"/>
          </p:cNvSpPr>
          <p:nvPr/>
        </p:nvSpPr>
        <p:spPr>
          <a:xfrm>
            <a:off x="6705600" y="2009775"/>
            <a:ext cx="76200" cy="76200"/>
          </a:xfrm>
          <a:prstGeom prst="rect">
            <a:avLst/>
          </a:prstGeom>
          <a:solidFill>
            <a:srgbClr val="75A9C8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95" name="f2-main-attn-cell-3-3"/>
          <p:cNvSpPr>
            <a:spLocks noGrp="1"/>
          </p:cNvSpPr>
          <p:nvPr/>
        </p:nvSpPr>
        <p:spPr>
          <a:xfrm>
            <a:off x="6791325" y="2009775"/>
            <a:ext cx="76200" cy="76200"/>
          </a:xfrm>
          <a:prstGeom prst="rect">
            <a:avLst/>
          </a:prstGeom>
          <a:solidFill>
            <a:srgbClr val="D487AD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396" name="f2-head-count"/>
          <p:cNvSpPr>
            <a:spLocks noGrp="1"/>
          </p:cNvSpPr>
          <p:nvPr/>
        </p:nvSpPr>
        <p:spPr>
          <a:xfrm>
            <a:off x="6438900" y="2095500"/>
            <a:ext cx="53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67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7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 heads</a:t>
            </a:r>
            <a:endParaRPr sz="675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97" name="f2-final-norm"/>
          <p:cNvSpPr>
            <a:spLocks noGrp="1"/>
          </p:cNvSpPr>
          <p:nvPr/>
        </p:nvSpPr>
        <p:spPr>
          <a:xfrm>
            <a:off x="6153150" y="2771775"/>
            <a:ext cx="8572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90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0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LayerNorm</a:t>
            </a:r>
            <a:endParaRPr sz="900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629" name="直接箭头连接符 628"/>
          <p:cNvCxnSpPr>
            <a:stCxn id="342" idx="3"/>
            <a:endCxn id="344" idx="1"/>
          </p:cNvCxnSpPr>
          <p:nvPr/>
        </p:nvCxnSpPr>
        <p:spPr>
          <a:xfrm>
            <a:off x="3524250" y="1028700"/>
            <a:ext cx="152400" cy="66675"/>
          </a:xfrm>
          <a:prstGeom prst="straightConnector1">
            <a:avLst/>
          </a:prstGeom>
          <a:ln w="13335">
            <a:solidFill>
              <a:srgbClr val="D487A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30" name="直接箭头连接符 629"/>
          <p:cNvCxnSpPr>
            <a:stCxn id="343" idx="3"/>
            <a:endCxn id="350" idx="1"/>
          </p:cNvCxnSpPr>
          <p:nvPr/>
        </p:nvCxnSpPr>
        <p:spPr>
          <a:xfrm>
            <a:off x="3524250" y="2619375"/>
            <a:ext cx="238125" cy="66675"/>
          </a:xfrm>
          <a:prstGeom prst="straightConnector1">
            <a:avLst/>
          </a:prstGeom>
          <a:ln w="13335">
            <a:solidFill>
              <a:srgbClr val="75A9C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31" name="直接箭头连接符 630"/>
          <p:cNvCxnSpPr>
            <a:stCxn id="349" idx="3"/>
            <a:endCxn id="356" idx="1"/>
          </p:cNvCxnSpPr>
          <p:nvPr/>
        </p:nvCxnSpPr>
        <p:spPr>
          <a:xfrm>
            <a:off x="4276725" y="1238250"/>
            <a:ext cx="0" cy="742950"/>
          </a:xfrm>
          <a:prstGeom prst="straightConnector1">
            <a:avLst/>
          </a:prstGeom>
          <a:ln w="13335">
            <a:solidFill>
              <a:srgbClr val="D487A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32" name="直接箭头连接符 631"/>
          <p:cNvCxnSpPr>
            <a:stCxn id="353" idx="3"/>
            <a:endCxn id="356" idx="1"/>
          </p:cNvCxnSpPr>
          <p:nvPr/>
        </p:nvCxnSpPr>
        <p:spPr>
          <a:xfrm flipV="1">
            <a:off x="4267200" y="1981200"/>
            <a:ext cx="9525" cy="819150"/>
          </a:xfrm>
          <a:prstGeom prst="straightConnector1">
            <a:avLst/>
          </a:prstGeom>
          <a:ln w="13335">
            <a:solidFill>
              <a:srgbClr val="75A9C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33" name="直接箭头连接符 632"/>
          <p:cNvCxnSpPr>
            <a:stCxn id="356" idx="3"/>
            <a:endCxn id="371" idx="1"/>
          </p:cNvCxnSpPr>
          <p:nvPr/>
        </p:nvCxnSpPr>
        <p:spPr>
          <a:xfrm flipV="1">
            <a:off x="4600575" y="1485900"/>
            <a:ext cx="238125" cy="495300"/>
          </a:xfrm>
          <a:prstGeom prst="straightConnector1">
            <a:avLst/>
          </a:prstGeom>
          <a:ln w="13335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34" name="直接箭头连接符 633"/>
          <p:cNvCxnSpPr>
            <a:stCxn id="371" idx="3"/>
            <a:endCxn id="374" idx="1"/>
          </p:cNvCxnSpPr>
          <p:nvPr/>
        </p:nvCxnSpPr>
        <p:spPr>
          <a:xfrm>
            <a:off x="5391150" y="1485900"/>
            <a:ext cx="257175" cy="0"/>
          </a:xfrm>
          <a:prstGeom prst="straightConnector1">
            <a:avLst/>
          </a:prstGeom>
          <a:ln w="13335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35" name="直接箭头连接符 634"/>
          <p:cNvCxnSpPr>
            <a:stCxn id="374" idx="3"/>
            <a:endCxn id="375" idx="1"/>
          </p:cNvCxnSpPr>
          <p:nvPr/>
        </p:nvCxnSpPr>
        <p:spPr>
          <a:xfrm>
            <a:off x="6200775" y="1485900"/>
            <a:ext cx="200025" cy="76200"/>
          </a:xfrm>
          <a:prstGeom prst="straightConnector1">
            <a:avLst/>
          </a:prstGeom>
          <a:ln w="13335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36" name="直接箭头连接符 635"/>
          <p:cNvCxnSpPr>
            <a:stCxn id="375" idx="2"/>
            <a:endCxn id="397" idx="0"/>
          </p:cNvCxnSpPr>
          <p:nvPr/>
        </p:nvCxnSpPr>
        <p:spPr>
          <a:xfrm flipH="1">
            <a:off x="6581775" y="2305050"/>
            <a:ext cx="123825" cy="466725"/>
          </a:xfrm>
          <a:prstGeom prst="straightConnector1">
            <a:avLst/>
          </a:prstGeom>
          <a:ln w="13335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06" name="f2-latent-trapezoid"/>
          <p:cNvSpPr>
            <a:spLocks noGrp="1"/>
          </p:cNvSpPr>
          <p:nvPr/>
        </p:nvSpPr>
        <p:spPr>
          <a:xfrm>
            <a:off x="7724775" y="695325"/>
            <a:ext cx="819150" cy="542925"/>
          </a:xfrm>
          <a:prstGeom prst="trapezoid">
            <a:avLst/>
          </a:prstGeom>
          <a:solidFill>
            <a:srgbClr val="EEF5F9"/>
          </a:solidFill>
          <a:ln w="952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112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12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CLS</a:t>
            </a:r>
            <a:endParaRPr sz="1125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07" name="f2-cls-embedding-label"/>
          <p:cNvSpPr>
            <a:spLocks noGrp="1"/>
          </p:cNvSpPr>
          <p:nvPr/>
        </p:nvSpPr>
        <p:spPr>
          <a:xfrm>
            <a:off x="7524750" y="1323975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0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0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CLS embedding [D]</a:t>
            </a:r>
            <a:endParaRPr sz="900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08" name="f2-cls-vector-0"/>
          <p:cNvSpPr>
            <a:spLocks noGrp="1"/>
          </p:cNvSpPr>
          <p:nvPr/>
        </p:nvSpPr>
        <p:spPr>
          <a:xfrm>
            <a:off x="7848600" y="1628775"/>
            <a:ext cx="85725" cy="333375"/>
          </a:xfrm>
          <a:prstGeom prst="rect">
            <a:avLst/>
          </a:prstGeom>
          <a:solidFill>
            <a:srgbClr val="75A9C8"/>
          </a:solidFill>
          <a:ln w="571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09" name="f2-cls-vector-1"/>
          <p:cNvSpPr>
            <a:spLocks noGrp="1"/>
          </p:cNvSpPr>
          <p:nvPr/>
        </p:nvSpPr>
        <p:spPr>
          <a:xfrm>
            <a:off x="7943850" y="1628775"/>
            <a:ext cx="85725" cy="333375"/>
          </a:xfrm>
          <a:prstGeom prst="rect">
            <a:avLst/>
          </a:prstGeom>
          <a:solidFill>
            <a:srgbClr val="EEF5F9"/>
          </a:solidFill>
          <a:ln w="571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10" name="f2-cls-vector-2"/>
          <p:cNvSpPr>
            <a:spLocks noGrp="1"/>
          </p:cNvSpPr>
          <p:nvPr/>
        </p:nvSpPr>
        <p:spPr>
          <a:xfrm>
            <a:off x="8039100" y="1628775"/>
            <a:ext cx="85725" cy="333375"/>
          </a:xfrm>
          <a:prstGeom prst="rect">
            <a:avLst/>
          </a:prstGeom>
          <a:solidFill>
            <a:srgbClr val="75A9C8"/>
          </a:solidFill>
          <a:ln w="571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11" name="f2-cls-vector-3"/>
          <p:cNvSpPr>
            <a:spLocks noGrp="1"/>
          </p:cNvSpPr>
          <p:nvPr/>
        </p:nvSpPr>
        <p:spPr>
          <a:xfrm>
            <a:off x="8134350" y="1628775"/>
            <a:ext cx="85725" cy="333375"/>
          </a:xfrm>
          <a:prstGeom prst="rect">
            <a:avLst/>
          </a:prstGeom>
          <a:solidFill>
            <a:srgbClr val="EEF5F9"/>
          </a:solidFill>
          <a:ln w="571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12" name="f2-cls-vector-4"/>
          <p:cNvSpPr>
            <a:spLocks noGrp="1"/>
          </p:cNvSpPr>
          <p:nvPr/>
        </p:nvSpPr>
        <p:spPr>
          <a:xfrm>
            <a:off x="8229600" y="1628775"/>
            <a:ext cx="85725" cy="333375"/>
          </a:xfrm>
          <a:prstGeom prst="rect">
            <a:avLst/>
          </a:prstGeom>
          <a:solidFill>
            <a:srgbClr val="75A9C8"/>
          </a:solidFill>
          <a:ln w="571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13" name="f2-cls-vector-5"/>
          <p:cNvSpPr>
            <a:spLocks noGrp="1"/>
          </p:cNvSpPr>
          <p:nvPr/>
        </p:nvSpPr>
        <p:spPr>
          <a:xfrm>
            <a:off x="8324850" y="1628775"/>
            <a:ext cx="85725" cy="333375"/>
          </a:xfrm>
          <a:prstGeom prst="rect">
            <a:avLst/>
          </a:prstGeom>
          <a:solidFill>
            <a:srgbClr val="EEF5F9"/>
          </a:solidFill>
          <a:ln w="571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14" name="f2-gate-linear"/>
          <p:cNvSpPr>
            <a:spLocks noGrp="1"/>
          </p:cNvSpPr>
          <p:nvPr/>
        </p:nvSpPr>
        <p:spPr>
          <a:xfrm>
            <a:off x="7572375" y="2219325"/>
            <a:ext cx="704850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7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Linear</a:t>
            </a:r>
            <a:endParaRPr sz="750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defRPr sz="7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 → D</a:t>
            </a:r>
            <a:endParaRPr sz="750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15" name="f2-sigmoid"/>
          <p:cNvSpPr>
            <a:spLocks noGrp="1"/>
          </p:cNvSpPr>
          <p:nvPr/>
        </p:nvSpPr>
        <p:spPr>
          <a:xfrm>
            <a:off x="8343900" y="2238375"/>
            <a:ext cx="342900" cy="342900"/>
          </a:xfrm>
          <a:prstGeom prst="ellipse">
            <a:avLst/>
          </a:prstGeom>
          <a:solidFill>
            <a:srgbClr val="9A86BE"/>
          </a:solidFill>
          <a:ln w="0">
            <a:solidFill>
              <a:srgbClr val="9A86BE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1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σ</a:t>
            </a:r>
            <a:endParaRPr sz="1125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16" name="f2-gate-multiply"/>
          <p:cNvSpPr>
            <a:spLocks noGrp="1"/>
          </p:cNvSpPr>
          <p:nvPr/>
        </p:nvSpPr>
        <p:spPr>
          <a:xfrm>
            <a:off x="7962900" y="2752725"/>
            <a:ext cx="342900" cy="342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125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⊙</a:t>
            </a:r>
            <a:endParaRPr sz="1125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17" name="f2-gate-skip-top"/>
          <p:cNvSpPr>
            <a:spLocks noGrp="1"/>
          </p:cNvSpPr>
          <p:nvPr/>
        </p:nvSpPr>
        <p:spPr>
          <a:xfrm>
            <a:off x="7448550" y="197167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18" name="f2-gate-skip-bottom"/>
          <p:cNvSpPr>
            <a:spLocks noGrp="1"/>
          </p:cNvSpPr>
          <p:nvPr/>
        </p:nvSpPr>
        <p:spPr>
          <a:xfrm>
            <a:off x="7448550" y="29146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cxnSp>
        <p:nvCxnSpPr>
          <p:cNvPr id="650" name="直接箭头连接符 649"/>
          <p:cNvCxnSpPr>
            <a:stCxn id="406" idx="2"/>
            <a:endCxn id="410" idx="0"/>
          </p:cNvCxnSpPr>
          <p:nvPr/>
        </p:nvCxnSpPr>
        <p:spPr>
          <a:xfrm flipH="1">
            <a:off x="8081963" y="1238250"/>
            <a:ext cx="52388" cy="390525"/>
          </a:xfrm>
          <a:prstGeom prst="straightConnector1">
            <a:avLst/>
          </a:prstGeom>
          <a:ln w="13335">
            <a:solidFill>
              <a:srgbClr val="75A9C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51" name="直接箭头连接符 650"/>
          <p:cNvCxnSpPr>
            <a:stCxn id="410" idx="2"/>
            <a:endCxn id="414" idx="0"/>
          </p:cNvCxnSpPr>
          <p:nvPr/>
        </p:nvCxnSpPr>
        <p:spPr>
          <a:xfrm flipH="1">
            <a:off x="7924483" y="1962150"/>
            <a:ext cx="157480" cy="257175"/>
          </a:xfrm>
          <a:prstGeom prst="straightConnector1">
            <a:avLst/>
          </a:prstGeom>
          <a:ln w="13335">
            <a:solidFill>
              <a:srgbClr val="9A86B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52" name="直接箭头连接符 651"/>
          <p:cNvCxnSpPr>
            <a:stCxn id="414" idx="3"/>
            <a:endCxn id="415" idx="2"/>
          </p:cNvCxnSpPr>
          <p:nvPr/>
        </p:nvCxnSpPr>
        <p:spPr>
          <a:xfrm>
            <a:off x="8277225" y="2405063"/>
            <a:ext cx="66675" cy="4763"/>
          </a:xfrm>
          <a:prstGeom prst="straightConnector1">
            <a:avLst/>
          </a:prstGeom>
          <a:ln w="13335">
            <a:solidFill>
              <a:srgbClr val="9A86B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53" name="肘形连接符 652"/>
          <p:cNvCxnSpPr>
            <a:stCxn id="415" idx="4"/>
            <a:endCxn id="416" idx="6"/>
          </p:cNvCxnSpPr>
          <p:nvPr/>
        </p:nvCxnSpPr>
        <p:spPr>
          <a:xfrm flipH="1">
            <a:off x="8305800" y="2581275"/>
            <a:ext cx="209550" cy="342900"/>
          </a:xfrm>
          <a:prstGeom prst="bentConnector3">
            <a:avLst>
              <a:gd name="adj1" fmla="val 0"/>
            </a:avLst>
          </a:prstGeom>
          <a:ln w="13335">
            <a:solidFill>
              <a:srgbClr val="9A86B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54" name="直接箭头连接符 653"/>
          <p:cNvCxnSpPr>
            <a:stCxn id="408" idx="2"/>
            <a:endCxn id="417" idx="3"/>
          </p:cNvCxnSpPr>
          <p:nvPr/>
        </p:nvCxnSpPr>
        <p:spPr>
          <a:xfrm flipH="1">
            <a:off x="7467600" y="1962150"/>
            <a:ext cx="423863" cy="19050"/>
          </a:xfrm>
          <a:prstGeom prst="straightConnector1">
            <a:avLst/>
          </a:prstGeom>
          <a:ln w="13335">
            <a:solidFill>
              <a:srgbClr val="75A9C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55" name="直接箭头连接符 654"/>
          <p:cNvCxnSpPr>
            <a:stCxn id="417" idx="2"/>
            <a:endCxn id="418" idx="0"/>
          </p:cNvCxnSpPr>
          <p:nvPr/>
        </p:nvCxnSpPr>
        <p:spPr>
          <a:xfrm>
            <a:off x="7458075" y="1990725"/>
            <a:ext cx="0" cy="923925"/>
          </a:xfrm>
          <a:prstGeom prst="straightConnector1">
            <a:avLst/>
          </a:prstGeom>
          <a:ln w="13335">
            <a:solidFill>
              <a:srgbClr val="75A9C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56" name="直接箭头连接符 655"/>
          <p:cNvCxnSpPr>
            <a:stCxn id="418" idx="3"/>
            <a:endCxn id="416" idx="2"/>
          </p:cNvCxnSpPr>
          <p:nvPr/>
        </p:nvCxnSpPr>
        <p:spPr>
          <a:xfrm>
            <a:off x="7467600" y="2924175"/>
            <a:ext cx="495300" cy="0"/>
          </a:xfrm>
          <a:prstGeom prst="straightConnector1">
            <a:avLst/>
          </a:prstGeom>
          <a:ln w="13335">
            <a:solidFill>
              <a:srgbClr val="75A9C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26" name="f2-gated-vector-0"/>
          <p:cNvSpPr>
            <a:spLocks noGrp="1"/>
          </p:cNvSpPr>
          <p:nvPr/>
        </p:nvSpPr>
        <p:spPr>
          <a:xfrm>
            <a:off x="7848600" y="3333750"/>
            <a:ext cx="85725" cy="333375"/>
          </a:xfrm>
          <a:prstGeom prst="rect">
            <a:avLst/>
          </a:prstGeom>
          <a:solidFill>
            <a:srgbClr val="9A86BE"/>
          </a:solidFill>
          <a:ln w="571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27" name="f2-gated-vector-1"/>
          <p:cNvSpPr>
            <a:spLocks noGrp="1"/>
          </p:cNvSpPr>
          <p:nvPr/>
        </p:nvSpPr>
        <p:spPr>
          <a:xfrm>
            <a:off x="7943850" y="3333750"/>
            <a:ext cx="85725" cy="333375"/>
          </a:xfrm>
          <a:prstGeom prst="rect">
            <a:avLst/>
          </a:prstGeom>
          <a:solidFill>
            <a:srgbClr val="F2EFF8"/>
          </a:solidFill>
          <a:ln w="571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28" name="f2-gated-vector-2"/>
          <p:cNvSpPr>
            <a:spLocks noGrp="1"/>
          </p:cNvSpPr>
          <p:nvPr/>
        </p:nvSpPr>
        <p:spPr>
          <a:xfrm>
            <a:off x="8039100" y="3333750"/>
            <a:ext cx="85725" cy="333375"/>
          </a:xfrm>
          <a:prstGeom prst="rect">
            <a:avLst/>
          </a:prstGeom>
          <a:solidFill>
            <a:srgbClr val="9A86BE"/>
          </a:solidFill>
          <a:ln w="571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29" name="f2-gated-vector-3"/>
          <p:cNvSpPr>
            <a:spLocks noGrp="1"/>
          </p:cNvSpPr>
          <p:nvPr/>
        </p:nvSpPr>
        <p:spPr>
          <a:xfrm>
            <a:off x="8134350" y="3333750"/>
            <a:ext cx="85725" cy="333375"/>
          </a:xfrm>
          <a:prstGeom prst="rect">
            <a:avLst/>
          </a:prstGeom>
          <a:solidFill>
            <a:srgbClr val="F2EFF8"/>
          </a:solidFill>
          <a:ln w="571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30" name="f2-gated-vector-4"/>
          <p:cNvSpPr>
            <a:spLocks noGrp="1"/>
          </p:cNvSpPr>
          <p:nvPr/>
        </p:nvSpPr>
        <p:spPr>
          <a:xfrm>
            <a:off x="8229600" y="3333750"/>
            <a:ext cx="85725" cy="333375"/>
          </a:xfrm>
          <a:prstGeom prst="rect">
            <a:avLst/>
          </a:prstGeom>
          <a:solidFill>
            <a:srgbClr val="9A86BE"/>
          </a:solidFill>
          <a:ln w="571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31" name="f2-gated-vector-5"/>
          <p:cNvSpPr>
            <a:spLocks noGrp="1"/>
          </p:cNvSpPr>
          <p:nvPr/>
        </p:nvSpPr>
        <p:spPr>
          <a:xfrm>
            <a:off x="8324850" y="3333750"/>
            <a:ext cx="85725" cy="333375"/>
          </a:xfrm>
          <a:prstGeom prst="rect">
            <a:avLst/>
          </a:prstGeom>
          <a:solidFill>
            <a:srgbClr val="F2EFF8"/>
          </a:solidFill>
          <a:ln w="571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cxnSp>
        <p:nvCxnSpPr>
          <p:cNvPr id="663" name="直接箭头连接符 662"/>
          <p:cNvCxnSpPr>
            <a:stCxn id="416" idx="4"/>
            <a:endCxn id="428" idx="0"/>
          </p:cNvCxnSpPr>
          <p:nvPr/>
        </p:nvCxnSpPr>
        <p:spPr>
          <a:xfrm flipH="1">
            <a:off x="8081963" y="3095625"/>
            <a:ext cx="52388" cy="238125"/>
          </a:xfrm>
          <a:prstGeom prst="straightConnector1">
            <a:avLst/>
          </a:prstGeom>
          <a:ln w="13335">
            <a:solidFill>
              <a:srgbClr val="9A86BE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33" name="f2-gated-label"/>
          <p:cNvSpPr>
            <a:spLocks noGrp="1"/>
          </p:cNvSpPr>
          <p:nvPr/>
        </p:nvSpPr>
        <p:spPr>
          <a:xfrm>
            <a:off x="7553325" y="3724275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825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Gated CLS [D]</a:t>
            </a:r>
            <a:endParaRPr sz="825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34" name="f2-head-ln"/>
          <p:cNvSpPr>
            <a:spLocks noGrp="1"/>
          </p:cNvSpPr>
          <p:nvPr/>
        </p:nvSpPr>
        <p:spPr>
          <a:xfrm>
            <a:off x="9782175" y="714375"/>
            <a:ext cx="15049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487AD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975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75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LayerNorm</a:t>
            </a:r>
            <a:endParaRPr sz="975" b="1">
              <a:solidFill>
                <a:srgbClr val="A95E8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35" name="f2-head-linear1"/>
          <p:cNvSpPr>
            <a:spLocks noGrp="1"/>
          </p:cNvSpPr>
          <p:nvPr/>
        </p:nvSpPr>
        <p:spPr>
          <a:xfrm>
            <a:off x="9782175" y="1314450"/>
            <a:ext cx="15049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90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0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Linear   D → D/2</a:t>
            </a:r>
            <a:endParaRPr sz="900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36" name="f2-head-silu"/>
          <p:cNvSpPr>
            <a:spLocks noGrp="1"/>
          </p:cNvSpPr>
          <p:nvPr/>
        </p:nvSpPr>
        <p:spPr>
          <a:xfrm>
            <a:off x="9953625" y="1857375"/>
            <a:ext cx="476250" cy="476250"/>
          </a:xfrm>
          <a:prstGeom prst="ellipse">
            <a:avLst/>
          </a:prstGeom>
          <a:solidFill>
            <a:srgbClr val="FBF5E8"/>
          </a:solidFill>
          <a:ln w="9525">
            <a:solidFill>
              <a:srgbClr val="D7AE66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A77A3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A77A3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SiLU</a:t>
            </a:r>
            <a:endParaRPr sz="825" b="1">
              <a:solidFill>
                <a:srgbClr val="A77A3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37" name="f2-head-dropout"/>
          <p:cNvSpPr>
            <a:spLocks noGrp="1"/>
          </p:cNvSpPr>
          <p:nvPr/>
        </p:nvSpPr>
        <p:spPr>
          <a:xfrm>
            <a:off x="10591800" y="1876425"/>
            <a:ext cx="828675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88B6A5"/>
            </a:solidFill>
            <a:prstDash val="dash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825" b="1">
                <a:solidFill>
                  <a:srgbClr val="5F8E7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5F8E7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Dropout</a:t>
            </a:r>
            <a:endParaRPr sz="825" b="1">
              <a:solidFill>
                <a:srgbClr val="5F8E7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38" name="f2-head-linear2"/>
          <p:cNvSpPr>
            <a:spLocks noGrp="1"/>
          </p:cNvSpPr>
          <p:nvPr/>
        </p:nvSpPr>
        <p:spPr>
          <a:xfrm>
            <a:off x="9782175" y="2600325"/>
            <a:ext cx="15049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487AD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90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0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Linear   D/2 → 1</a:t>
            </a:r>
            <a:endParaRPr sz="900" b="1">
              <a:solidFill>
                <a:srgbClr val="A95E8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39" name="f2-output"/>
          <p:cNvSpPr>
            <a:spLocks noGrp="1"/>
          </p:cNvSpPr>
          <p:nvPr/>
        </p:nvSpPr>
        <p:spPr>
          <a:xfrm>
            <a:off x="9572625" y="3238500"/>
            <a:ext cx="1924050" cy="619125"/>
          </a:xfrm>
          <a:prstGeom prst="roundRect">
            <a:avLst>
              <a:gd name="adj" fmla="val 12308"/>
            </a:avLst>
          </a:prstGeom>
          <a:solidFill>
            <a:srgbClr val="FAEFF5"/>
          </a:solidFill>
          <a:ln w="9525">
            <a:solidFill>
              <a:srgbClr val="D487AD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1125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125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Underwater adhesion  ŷ</a:t>
            </a:r>
            <a:endParaRPr sz="1125" b="1">
              <a:solidFill>
                <a:srgbClr val="A95E8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defRPr sz="1125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125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(kPa)</a:t>
            </a:r>
            <a:endParaRPr sz="1125" b="1">
              <a:solidFill>
                <a:srgbClr val="A95E8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671" name="直接箭头连接符 670"/>
          <p:cNvCxnSpPr>
            <a:stCxn id="434" idx="2"/>
            <a:endCxn id="435" idx="0"/>
          </p:cNvCxnSpPr>
          <p:nvPr/>
        </p:nvCxnSpPr>
        <p:spPr>
          <a:xfrm>
            <a:off x="10534650" y="1114425"/>
            <a:ext cx="0" cy="200025"/>
          </a:xfrm>
          <a:prstGeom prst="straightConnector1">
            <a:avLst/>
          </a:prstGeom>
          <a:ln w="13335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72" name="肘形连接符 671"/>
          <p:cNvCxnSpPr>
            <a:stCxn id="435" idx="2"/>
            <a:endCxn id="436" idx="0"/>
          </p:cNvCxnSpPr>
          <p:nvPr/>
        </p:nvCxnSpPr>
        <p:spPr>
          <a:xfrm flipH="1">
            <a:off x="10191750" y="1714500"/>
            <a:ext cx="342900" cy="142875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73" name="直接箭头连接符 672"/>
          <p:cNvCxnSpPr>
            <a:stCxn id="436" idx="6"/>
            <a:endCxn id="437" idx="1"/>
          </p:cNvCxnSpPr>
          <p:nvPr/>
        </p:nvCxnSpPr>
        <p:spPr>
          <a:xfrm>
            <a:off x="10429875" y="2095500"/>
            <a:ext cx="161925" cy="0"/>
          </a:xfrm>
          <a:prstGeom prst="straightConnector1">
            <a:avLst/>
          </a:prstGeom>
          <a:ln w="13335">
            <a:solidFill>
              <a:srgbClr val="D7AE6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74" name="肘形连接符 673"/>
          <p:cNvCxnSpPr>
            <a:stCxn id="437" idx="2"/>
            <a:endCxn id="438" idx="0"/>
          </p:cNvCxnSpPr>
          <p:nvPr/>
        </p:nvCxnSpPr>
        <p:spPr>
          <a:xfrm flipH="1">
            <a:off x="10534650" y="2314575"/>
            <a:ext cx="471488" cy="285750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75" name="直接箭头连接符 674"/>
          <p:cNvCxnSpPr>
            <a:stCxn id="438" idx="2"/>
            <a:endCxn id="439" idx="0"/>
          </p:cNvCxnSpPr>
          <p:nvPr/>
        </p:nvCxnSpPr>
        <p:spPr>
          <a:xfrm>
            <a:off x="10534650" y="3000375"/>
            <a:ext cx="0" cy="238125"/>
          </a:xfrm>
          <a:prstGeom prst="straightConnector1">
            <a:avLst/>
          </a:prstGeom>
          <a:ln w="13335">
            <a:solidFill>
              <a:srgbClr val="D487A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45" name="f2-rb-input"/>
          <p:cNvSpPr>
            <a:spLocks noGrp="1"/>
          </p:cNvSpPr>
          <p:nvPr/>
        </p:nvSpPr>
        <p:spPr>
          <a:xfrm>
            <a:off x="371475" y="5191125"/>
            <a:ext cx="342900" cy="342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75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75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X</a:t>
            </a:r>
            <a:endParaRPr sz="975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46" name="f2-rb-ln"/>
          <p:cNvSpPr>
            <a:spLocks noGrp="1"/>
          </p:cNvSpPr>
          <p:nvPr/>
        </p:nvSpPr>
        <p:spPr>
          <a:xfrm>
            <a:off x="847725" y="5153025"/>
            <a:ext cx="857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75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LayerNorm</a:t>
            </a:r>
            <a:endParaRPr sz="750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47" name="f2-rb-w1"/>
          <p:cNvSpPr>
            <a:spLocks noGrp="1"/>
          </p:cNvSpPr>
          <p:nvPr/>
        </p:nvSpPr>
        <p:spPr>
          <a:xfrm>
            <a:off x="1876425" y="4867275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487AD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75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Linear W₁</a:t>
            </a:r>
            <a:endParaRPr sz="750" b="1">
              <a:solidFill>
                <a:srgbClr val="A95E8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48" name="f2-rb-w2"/>
          <p:cNvSpPr>
            <a:spLocks noGrp="1"/>
          </p:cNvSpPr>
          <p:nvPr/>
        </p:nvSpPr>
        <p:spPr>
          <a:xfrm>
            <a:off x="1876425" y="548640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7AE66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750" b="1">
                <a:solidFill>
                  <a:srgbClr val="A77A3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A77A3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Linear W₂</a:t>
            </a:r>
            <a:endParaRPr sz="750" b="1">
              <a:solidFill>
                <a:srgbClr val="A77A3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49" name="f2-rb-silu"/>
          <p:cNvSpPr>
            <a:spLocks noGrp="1"/>
          </p:cNvSpPr>
          <p:nvPr/>
        </p:nvSpPr>
        <p:spPr>
          <a:xfrm>
            <a:off x="2581275" y="5486400"/>
            <a:ext cx="361950" cy="361950"/>
          </a:xfrm>
          <a:prstGeom prst="ellipse">
            <a:avLst/>
          </a:prstGeom>
          <a:solidFill>
            <a:srgbClr val="FBF5E8"/>
          </a:solidFill>
          <a:ln w="9525">
            <a:solidFill>
              <a:srgbClr val="D7AE66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50" b="1">
                <a:solidFill>
                  <a:srgbClr val="A77A3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A77A3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SiLU</a:t>
            </a:r>
            <a:endParaRPr sz="750" b="1">
              <a:solidFill>
                <a:srgbClr val="A77A3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50" name="f2-rb-mul"/>
          <p:cNvSpPr>
            <a:spLocks noGrp="1"/>
          </p:cNvSpPr>
          <p:nvPr/>
        </p:nvSpPr>
        <p:spPr>
          <a:xfrm>
            <a:off x="2943225" y="5095875"/>
            <a:ext cx="342900" cy="342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0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⊙</a:t>
            </a:r>
            <a:endParaRPr sz="1050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51" name="f2-rb-out"/>
          <p:cNvSpPr>
            <a:spLocks noGrp="1"/>
          </p:cNvSpPr>
          <p:nvPr/>
        </p:nvSpPr>
        <p:spPr>
          <a:xfrm>
            <a:off x="3419475" y="5057775"/>
            <a:ext cx="685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7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Linear Wout</a:t>
            </a:r>
            <a:endParaRPr sz="750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52" name="f2-rb-drop"/>
          <p:cNvSpPr>
            <a:spLocks noGrp="1"/>
          </p:cNvSpPr>
          <p:nvPr/>
        </p:nvSpPr>
        <p:spPr>
          <a:xfrm>
            <a:off x="4333875" y="5057775"/>
            <a:ext cx="657225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88B6A5"/>
            </a:solidFill>
            <a:prstDash val="dash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750" b="1">
                <a:solidFill>
                  <a:srgbClr val="5F8E7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5F8E7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Dropout</a:t>
            </a:r>
            <a:endParaRPr sz="750" b="1">
              <a:solidFill>
                <a:srgbClr val="5F8E7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53" name="f2-rb-add"/>
          <p:cNvSpPr>
            <a:spLocks noGrp="1"/>
          </p:cNvSpPr>
          <p:nvPr/>
        </p:nvSpPr>
        <p:spPr>
          <a:xfrm>
            <a:off x="5191125" y="5095875"/>
            <a:ext cx="342900" cy="342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125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endParaRPr sz="1125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54" name="f2-rb-skip-start"/>
          <p:cNvSpPr>
            <a:spLocks noGrp="1"/>
          </p:cNvSpPr>
          <p:nvPr/>
        </p:nvSpPr>
        <p:spPr>
          <a:xfrm>
            <a:off x="533400" y="59912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55" name="f2-rb-skip-end"/>
          <p:cNvSpPr>
            <a:spLocks noGrp="1"/>
          </p:cNvSpPr>
          <p:nvPr/>
        </p:nvSpPr>
        <p:spPr>
          <a:xfrm>
            <a:off x="5353050" y="59912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56" name="f2-rb-output-0"/>
          <p:cNvSpPr>
            <a:spLocks noGrp="1"/>
          </p:cNvSpPr>
          <p:nvPr/>
        </p:nvSpPr>
        <p:spPr>
          <a:xfrm>
            <a:off x="5676900" y="5048250"/>
            <a:ext cx="190500" cy="438150"/>
          </a:xfrm>
          <a:prstGeom prst="rect">
            <a:avLst/>
          </a:prstGeom>
          <a:solidFill>
            <a:srgbClr val="9A86BE"/>
          </a:solidFill>
          <a:ln w="571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57" name="f2-rb-output-1"/>
          <p:cNvSpPr>
            <a:spLocks noGrp="1"/>
          </p:cNvSpPr>
          <p:nvPr/>
        </p:nvSpPr>
        <p:spPr>
          <a:xfrm>
            <a:off x="5753100" y="5076825"/>
            <a:ext cx="190500" cy="438150"/>
          </a:xfrm>
          <a:prstGeom prst="rect">
            <a:avLst/>
          </a:prstGeom>
          <a:solidFill>
            <a:srgbClr val="F2EFF8"/>
          </a:solidFill>
          <a:ln w="571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58" name="f2-rb-output-2"/>
          <p:cNvSpPr>
            <a:spLocks noGrp="1"/>
          </p:cNvSpPr>
          <p:nvPr/>
        </p:nvSpPr>
        <p:spPr>
          <a:xfrm>
            <a:off x="5829300" y="5105400"/>
            <a:ext cx="190500" cy="438150"/>
          </a:xfrm>
          <a:prstGeom prst="rect">
            <a:avLst/>
          </a:prstGeom>
          <a:solidFill>
            <a:srgbClr val="9A86BE"/>
          </a:solidFill>
          <a:ln w="571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59" name="f2-rb-output-3"/>
          <p:cNvSpPr>
            <a:spLocks noGrp="1"/>
          </p:cNvSpPr>
          <p:nvPr/>
        </p:nvSpPr>
        <p:spPr>
          <a:xfrm>
            <a:off x="5905500" y="5133975"/>
            <a:ext cx="190500" cy="438150"/>
          </a:xfrm>
          <a:prstGeom prst="rect">
            <a:avLst/>
          </a:prstGeom>
          <a:solidFill>
            <a:srgbClr val="F2EFF8"/>
          </a:solidFill>
          <a:ln w="571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60" name="f2-swiglu-label"/>
          <p:cNvSpPr>
            <a:spLocks noGrp="1"/>
          </p:cNvSpPr>
          <p:nvPr/>
        </p:nvSpPr>
        <p:spPr>
          <a:xfrm>
            <a:off x="2247900" y="4591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0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90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SwiGLU</a:t>
            </a:r>
            <a:endParaRPr sz="900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692" name="直接箭头连接符 691"/>
          <p:cNvCxnSpPr>
            <a:stCxn id="445" idx="6"/>
            <a:endCxn id="446" idx="1"/>
          </p:cNvCxnSpPr>
          <p:nvPr/>
        </p:nvCxnSpPr>
        <p:spPr>
          <a:xfrm>
            <a:off x="714375" y="5362575"/>
            <a:ext cx="133350" cy="0"/>
          </a:xfrm>
          <a:prstGeom prst="straightConnector1">
            <a:avLst/>
          </a:prstGeom>
          <a:ln w="13335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3" name="直接箭头连接符 692"/>
          <p:cNvCxnSpPr>
            <a:stCxn id="446" idx="0"/>
            <a:endCxn id="447" idx="1"/>
          </p:cNvCxnSpPr>
          <p:nvPr/>
        </p:nvCxnSpPr>
        <p:spPr>
          <a:xfrm flipV="1">
            <a:off x="1276350" y="5048250"/>
            <a:ext cx="600075" cy="104775"/>
          </a:xfrm>
          <a:prstGeom prst="straightConnector1">
            <a:avLst/>
          </a:prstGeom>
          <a:ln w="13335">
            <a:solidFill>
              <a:srgbClr val="D487A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4" name="直接箭头连接符 693"/>
          <p:cNvCxnSpPr>
            <a:stCxn id="446" idx="2"/>
            <a:endCxn id="448" idx="1"/>
          </p:cNvCxnSpPr>
          <p:nvPr/>
        </p:nvCxnSpPr>
        <p:spPr>
          <a:xfrm>
            <a:off x="1276350" y="5572125"/>
            <a:ext cx="600075" cy="95250"/>
          </a:xfrm>
          <a:prstGeom prst="straightConnector1">
            <a:avLst/>
          </a:prstGeom>
          <a:ln w="13335">
            <a:solidFill>
              <a:srgbClr val="D7AE6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5" name="直接箭头连接符 694"/>
          <p:cNvCxnSpPr>
            <a:stCxn id="448" idx="3"/>
            <a:endCxn id="449" idx="2"/>
          </p:cNvCxnSpPr>
          <p:nvPr/>
        </p:nvCxnSpPr>
        <p:spPr>
          <a:xfrm>
            <a:off x="2447925" y="5667375"/>
            <a:ext cx="133350" cy="0"/>
          </a:xfrm>
          <a:prstGeom prst="straightConnector1">
            <a:avLst/>
          </a:prstGeom>
          <a:ln w="13335">
            <a:solidFill>
              <a:srgbClr val="D7AE6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6" name="肘形连接符 695"/>
          <p:cNvCxnSpPr>
            <a:stCxn id="447" idx="3"/>
            <a:endCxn id="450" idx="2"/>
          </p:cNvCxnSpPr>
          <p:nvPr/>
        </p:nvCxnSpPr>
        <p:spPr>
          <a:xfrm>
            <a:off x="2447925" y="5048250"/>
            <a:ext cx="495300" cy="219075"/>
          </a:xfrm>
          <a:prstGeom prst="bentConnector3">
            <a:avLst>
              <a:gd name="adj1" fmla="val 50000"/>
            </a:avLst>
          </a:prstGeom>
          <a:ln w="13335">
            <a:solidFill>
              <a:srgbClr val="D487A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7" name="直接箭头连接符 696"/>
          <p:cNvCxnSpPr>
            <a:stCxn id="449" idx="0"/>
            <a:endCxn id="450" idx="4"/>
          </p:cNvCxnSpPr>
          <p:nvPr/>
        </p:nvCxnSpPr>
        <p:spPr>
          <a:xfrm flipV="1">
            <a:off x="2762250" y="5438775"/>
            <a:ext cx="352425" cy="47625"/>
          </a:xfrm>
          <a:prstGeom prst="straightConnector1">
            <a:avLst/>
          </a:prstGeom>
          <a:ln w="13335">
            <a:solidFill>
              <a:srgbClr val="D7AE6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8" name="直接箭头连接符 697"/>
          <p:cNvCxnSpPr>
            <a:stCxn id="450" idx="6"/>
            <a:endCxn id="451" idx="1"/>
          </p:cNvCxnSpPr>
          <p:nvPr/>
        </p:nvCxnSpPr>
        <p:spPr>
          <a:xfrm>
            <a:off x="3286125" y="5267325"/>
            <a:ext cx="133350" cy="0"/>
          </a:xfrm>
          <a:prstGeom prst="straightConnector1">
            <a:avLst/>
          </a:prstGeom>
          <a:ln w="13335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9" name="直接箭头连接符 698"/>
          <p:cNvCxnSpPr>
            <a:stCxn id="451" idx="3"/>
            <a:endCxn id="452" idx="1"/>
          </p:cNvCxnSpPr>
          <p:nvPr/>
        </p:nvCxnSpPr>
        <p:spPr>
          <a:xfrm>
            <a:off x="4105275" y="5267325"/>
            <a:ext cx="228600" cy="0"/>
          </a:xfrm>
          <a:prstGeom prst="straightConnector1">
            <a:avLst/>
          </a:prstGeom>
          <a:ln w="13335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00" name="直接箭头连接符 699"/>
          <p:cNvCxnSpPr>
            <a:stCxn id="452" idx="3"/>
            <a:endCxn id="453" idx="2"/>
          </p:cNvCxnSpPr>
          <p:nvPr/>
        </p:nvCxnSpPr>
        <p:spPr>
          <a:xfrm>
            <a:off x="4991100" y="5267325"/>
            <a:ext cx="200025" cy="0"/>
          </a:xfrm>
          <a:prstGeom prst="straightConnector1">
            <a:avLst/>
          </a:prstGeom>
          <a:ln w="13335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01" name="直接箭头连接符 700"/>
          <p:cNvCxnSpPr>
            <a:stCxn id="453" idx="6"/>
            <a:endCxn id="456" idx="1"/>
          </p:cNvCxnSpPr>
          <p:nvPr/>
        </p:nvCxnSpPr>
        <p:spPr>
          <a:xfrm>
            <a:off x="5534025" y="5267325"/>
            <a:ext cx="142875" cy="0"/>
          </a:xfrm>
          <a:prstGeom prst="straightConnector1">
            <a:avLst/>
          </a:prstGeom>
          <a:ln w="13335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02" name="直接箭头连接符 701"/>
          <p:cNvCxnSpPr>
            <a:stCxn id="445" idx="4"/>
            <a:endCxn id="454" idx="0"/>
          </p:cNvCxnSpPr>
          <p:nvPr/>
        </p:nvCxnSpPr>
        <p:spPr>
          <a:xfrm>
            <a:off x="542925" y="5534025"/>
            <a:ext cx="0" cy="457200"/>
          </a:xfrm>
          <a:prstGeom prst="straightConnector1">
            <a:avLst/>
          </a:prstGeom>
          <a:ln w="13335">
            <a:solidFill>
              <a:srgbClr val="9A86BE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03" name="直接箭头连接符 702"/>
          <p:cNvCxnSpPr>
            <a:stCxn id="454" idx="3"/>
            <a:endCxn id="455" idx="1"/>
          </p:cNvCxnSpPr>
          <p:nvPr/>
        </p:nvCxnSpPr>
        <p:spPr>
          <a:xfrm>
            <a:off x="552450" y="6000750"/>
            <a:ext cx="4800600" cy="0"/>
          </a:xfrm>
          <a:prstGeom prst="straightConnector1">
            <a:avLst/>
          </a:prstGeom>
          <a:ln w="13335">
            <a:solidFill>
              <a:srgbClr val="9A86BE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04" name="直接箭头连接符 703"/>
          <p:cNvCxnSpPr>
            <a:stCxn id="455" idx="0"/>
            <a:endCxn id="453" idx="4"/>
          </p:cNvCxnSpPr>
          <p:nvPr/>
        </p:nvCxnSpPr>
        <p:spPr>
          <a:xfrm flipV="1">
            <a:off x="5362575" y="5438775"/>
            <a:ext cx="0" cy="552450"/>
          </a:xfrm>
          <a:prstGeom prst="straightConnector1">
            <a:avLst/>
          </a:prstGeom>
          <a:ln w="13335">
            <a:solidFill>
              <a:srgbClr val="9A86BE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74" name="f2-rb-residual"/>
          <p:cNvSpPr>
            <a:spLocks noGrp="1"/>
          </p:cNvSpPr>
          <p:nvPr/>
        </p:nvSpPr>
        <p:spPr>
          <a:xfrm>
            <a:off x="2571750" y="621030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7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residual</a:t>
            </a:r>
            <a:endParaRPr sz="750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75" name="f2-attn-token-0"/>
          <p:cNvSpPr>
            <a:spLocks noGrp="1"/>
          </p:cNvSpPr>
          <p:nvPr/>
        </p:nvSpPr>
        <p:spPr>
          <a:xfrm>
            <a:off x="6457950" y="4933950"/>
            <a:ext cx="209550" cy="514350"/>
          </a:xfrm>
          <a:prstGeom prst="rect">
            <a:avLst/>
          </a:prstGeom>
          <a:solidFill>
            <a:srgbClr val="FFFFFF"/>
          </a:solidFill>
          <a:ln w="6668">
            <a:solidFill>
              <a:srgbClr val="75A9C8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0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</a:t>
            </a:r>
            <a:endParaRPr sz="600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76" name="f2-attn-token-1"/>
          <p:cNvSpPr>
            <a:spLocks noGrp="1"/>
          </p:cNvSpPr>
          <p:nvPr/>
        </p:nvSpPr>
        <p:spPr>
          <a:xfrm>
            <a:off x="6505575" y="4972050"/>
            <a:ext cx="209550" cy="514350"/>
          </a:xfrm>
          <a:prstGeom prst="rect">
            <a:avLst/>
          </a:prstGeom>
          <a:solidFill>
            <a:srgbClr val="EEF5F9"/>
          </a:solidFill>
          <a:ln w="6668">
            <a:solidFill>
              <a:srgbClr val="75A9C8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/>
        </p:txBody>
      </p:sp>
      <p:sp>
        <p:nvSpPr>
          <p:cNvPr id="477" name="f2-attn-token-2"/>
          <p:cNvSpPr>
            <a:spLocks noGrp="1"/>
          </p:cNvSpPr>
          <p:nvPr/>
        </p:nvSpPr>
        <p:spPr>
          <a:xfrm>
            <a:off x="6553200" y="5010150"/>
            <a:ext cx="209550" cy="514350"/>
          </a:xfrm>
          <a:prstGeom prst="rect">
            <a:avLst/>
          </a:prstGeom>
          <a:solidFill>
            <a:srgbClr val="EEF5F9"/>
          </a:solidFill>
          <a:ln w="6668">
            <a:solidFill>
              <a:srgbClr val="75A9C8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/>
        </p:txBody>
      </p:sp>
      <p:sp>
        <p:nvSpPr>
          <p:cNvPr id="478" name="f2-attn-token-3"/>
          <p:cNvSpPr>
            <a:spLocks noGrp="1"/>
          </p:cNvSpPr>
          <p:nvPr/>
        </p:nvSpPr>
        <p:spPr>
          <a:xfrm>
            <a:off x="6600825" y="5048250"/>
            <a:ext cx="209550" cy="514350"/>
          </a:xfrm>
          <a:prstGeom prst="rect">
            <a:avLst/>
          </a:prstGeom>
          <a:solidFill>
            <a:srgbClr val="EEF5F9"/>
          </a:solidFill>
          <a:ln w="6668">
            <a:solidFill>
              <a:srgbClr val="75A9C8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/>
        </p:txBody>
      </p:sp>
      <p:sp>
        <p:nvSpPr>
          <p:cNvPr id="479" name="f2-attn-token-4"/>
          <p:cNvSpPr>
            <a:spLocks noGrp="1"/>
          </p:cNvSpPr>
          <p:nvPr/>
        </p:nvSpPr>
        <p:spPr>
          <a:xfrm>
            <a:off x="6648450" y="5086350"/>
            <a:ext cx="209550" cy="514350"/>
          </a:xfrm>
          <a:prstGeom prst="rect">
            <a:avLst/>
          </a:prstGeom>
          <a:solidFill>
            <a:srgbClr val="EEF5F9"/>
          </a:solidFill>
          <a:ln w="6668">
            <a:solidFill>
              <a:srgbClr val="75A9C8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/>
        </p:txBody>
      </p:sp>
      <p:sp>
        <p:nvSpPr>
          <p:cNvPr id="480" name="f2-attn-ln"/>
          <p:cNvSpPr>
            <a:spLocks noGrp="1"/>
          </p:cNvSpPr>
          <p:nvPr/>
        </p:nvSpPr>
        <p:spPr>
          <a:xfrm>
            <a:off x="6858000" y="5038725"/>
            <a:ext cx="447675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82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LN</a:t>
            </a:r>
            <a:endParaRPr sz="825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81" name="f2-qkv-proj-label"/>
          <p:cNvSpPr>
            <a:spLocks noGrp="1"/>
          </p:cNvSpPr>
          <p:nvPr/>
        </p:nvSpPr>
        <p:spPr>
          <a:xfrm>
            <a:off x="7400925" y="4591050"/>
            <a:ext cx="10001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67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7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QKV projection</a:t>
            </a:r>
            <a:endParaRPr sz="675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82" name="f2-q"/>
          <p:cNvSpPr>
            <a:spLocks noGrp="1"/>
          </p:cNvSpPr>
          <p:nvPr/>
        </p:nvSpPr>
        <p:spPr>
          <a:xfrm>
            <a:off x="7448550" y="4810125"/>
            <a:ext cx="266700" cy="523875"/>
          </a:xfrm>
          <a:prstGeom prst="rect">
            <a:avLst/>
          </a:prstGeom>
          <a:solidFill>
            <a:srgbClr val="D487AD"/>
          </a:solidFill>
          <a:ln w="9525">
            <a:solidFill>
              <a:srgbClr val="D487AD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</a:t>
            </a:r>
            <a:endParaRPr sz="12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83" name="f2-k"/>
          <p:cNvSpPr>
            <a:spLocks noGrp="1"/>
          </p:cNvSpPr>
          <p:nvPr/>
        </p:nvSpPr>
        <p:spPr>
          <a:xfrm>
            <a:off x="7772400" y="4810125"/>
            <a:ext cx="266700" cy="523875"/>
          </a:xfrm>
          <a:prstGeom prst="rect">
            <a:avLst/>
          </a:prstGeom>
          <a:solidFill>
            <a:srgbClr val="9A86BE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</a:t>
            </a:r>
            <a:endParaRPr sz="12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84" name="f2-v"/>
          <p:cNvSpPr>
            <a:spLocks noGrp="1"/>
          </p:cNvSpPr>
          <p:nvPr/>
        </p:nvSpPr>
        <p:spPr>
          <a:xfrm>
            <a:off x="8096250" y="4810125"/>
            <a:ext cx="266700" cy="523875"/>
          </a:xfrm>
          <a:prstGeom prst="rect">
            <a:avLst/>
          </a:prstGeom>
          <a:solidFill>
            <a:srgbClr val="75A9C8"/>
          </a:solidFill>
          <a:ln w="952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</a:t>
            </a:r>
            <a:endParaRPr sz="12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85" name="f2-score"/>
          <p:cNvSpPr>
            <a:spLocks noGrp="1"/>
          </p:cNvSpPr>
          <p:nvPr/>
        </p:nvSpPr>
        <p:spPr>
          <a:xfrm>
            <a:off x="7543800" y="5524500"/>
            <a:ext cx="4381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86" name="f2-score-cell-0-0"/>
          <p:cNvSpPr>
            <a:spLocks noGrp="1"/>
          </p:cNvSpPr>
          <p:nvPr/>
        </p:nvSpPr>
        <p:spPr>
          <a:xfrm>
            <a:off x="7591425" y="5572125"/>
            <a:ext cx="76200" cy="76200"/>
          </a:xfrm>
          <a:prstGeom prst="rect">
            <a:avLst/>
          </a:prstGeom>
          <a:solidFill>
            <a:srgbClr val="D487AD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87" name="f2-score-cell-0-1"/>
          <p:cNvSpPr>
            <a:spLocks noGrp="1"/>
          </p:cNvSpPr>
          <p:nvPr/>
        </p:nvSpPr>
        <p:spPr>
          <a:xfrm>
            <a:off x="7677150" y="5572125"/>
            <a:ext cx="76200" cy="76200"/>
          </a:xfrm>
          <a:prstGeom prst="rect">
            <a:avLst/>
          </a:prstGeom>
          <a:solidFill>
            <a:srgbClr val="9A86BE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88" name="f2-score-cell-0-2"/>
          <p:cNvSpPr>
            <a:spLocks noGrp="1"/>
          </p:cNvSpPr>
          <p:nvPr/>
        </p:nvSpPr>
        <p:spPr>
          <a:xfrm>
            <a:off x="7762875" y="5572125"/>
            <a:ext cx="76200" cy="76200"/>
          </a:xfrm>
          <a:prstGeom prst="rect">
            <a:avLst/>
          </a:prstGeom>
          <a:solidFill>
            <a:srgbClr val="75A9C8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89" name="f2-score-cell-0-3"/>
          <p:cNvSpPr>
            <a:spLocks noGrp="1"/>
          </p:cNvSpPr>
          <p:nvPr/>
        </p:nvSpPr>
        <p:spPr>
          <a:xfrm>
            <a:off x="7848600" y="5572125"/>
            <a:ext cx="76200" cy="76200"/>
          </a:xfrm>
          <a:prstGeom prst="rect">
            <a:avLst/>
          </a:prstGeom>
          <a:solidFill>
            <a:srgbClr val="D487AD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90" name="f2-score-cell-1-0"/>
          <p:cNvSpPr>
            <a:spLocks noGrp="1"/>
          </p:cNvSpPr>
          <p:nvPr/>
        </p:nvSpPr>
        <p:spPr>
          <a:xfrm>
            <a:off x="7591425" y="5657850"/>
            <a:ext cx="76200" cy="76200"/>
          </a:xfrm>
          <a:prstGeom prst="rect">
            <a:avLst/>
          </a:prstGeom>
          <a:solidFill>
            <a:srgbClr val="9A86BE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91" name="f2-score-cell-1-1"/>
          <p:cNvSpPr>
            <a:spLocks noGrp="1"/>
          </p:cNvSpPr>
          <p:nvPr/>
        </p:nvSpPr>
        <p:spPr>
          <a:xfrm>
            <a:off x="7677150" y="5657850"/>
            <a:ext cx="76200" cy="76200"/>
          </a:xfrm>
          <a:prstGeom prst="rect">
            <a:avLst/>
          </a:prstGeom>
          <a:solidFill>
            <a:srgbClr val="D487AD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92" name="f2-score-cell-1-2"/>
          <p:cNvSpPr>
            <a:spLocks noGrp="1"/>
          </p:cNvSpPr>
          <p:nvPr/>
        </p:nvSpPr>
        <p:spPr>
          <a:xfrm>
            <a:off x="7762875" y="5657850"/>
            <a:ext cx="76200" cy="76200"/>
          </a:xfrm>
          <a:prstGeom prst="rect">
            <a:avLst/>
          </a:prstGeom>
          <a:solidFill>
            <a:srgbClr val="9A86BE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93" name="f2-score-cell-1-3"/>
          <p:cNvSpPr>
            <a:spLocks noGrp="1"/>
          </p:cNvSpPr>
          <p:nvPr/>
        </p:nvSpPr>
        <p:spPr>
          <a:xfrm>
            <a:off x="7848600" y="5657850"/>
            <a:ext cx="76200" cy="76200"/>
          </a:xfrm>
          <a:prstGeom prst="rect">
            <a:avLst/>
          </a:prstGeom>
          <a:solidFill>
            <a:srgbClr val="75A9C8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94" name="f2-score-cell-2-0"/>
          <p:cNvSpPr>
            <a:spLocks noGrp="1"/>
          </p:cNvSpPr>
          <p:nvPr/>
        </p:nvSpPr>
        <p:spPr>
          <a:xfrm>
            <a:off x="7591425" y="5743575"/>
            <a:ext cx="76200" cy="76200"/>
          </a:xfrm>
          <a:prstGeom prst="rect">
            <a:avLst/>
          </a:prstGeom>
          <a:solidFill>
            <a:srgbClr val="75A9C8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95" name="f2-score-cell-2-1"/>
          <p:cNvSpPr>
            <a:spLocks noGrp="1"/>
          </p:cNvSpPr>
          <p:nvPr/>
        </p:nvSpPr>
        <p:spPr>
          <a:xfrm>
            <a:off x="7677150" y="5743575"/>
            <a:ext cx="76200" cy="76200"/>
          </a:xfrm>
          <a:prstGeom prst="rect">
            <a:avLst/>
          </a:prstGeom>
          <a:solidFill>
            <a:srgbClr val="9A86BE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96" name="f2-score-cell-2-2"/>
          <p:cNvSpPr>
            <a:spLocks noGrp="1"/>
          </p:cNvSpPr>
          <p:nvPr/>
        </p:nvSpPr>
        <p:spPr>
          <a:xfrm>
            <a:off x="7762875" y="5743575"/>
            <a:ext cx="76200" cy="76200"/>
          </a:xfrm>
          <a:prstGeom prst="rect">
            <a:avLst/>
          </a:prstGeom>
          <a:solidFill>
            <a:srgbClr val="D487AD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97" name="f2-score-cell-2-3"/>
          <p:cNvSpPr>
            <a:spLocks noGrp="1"/>
          </p:cNvSpPr>
          <p:nvPr/>
        </p:nvSpPr>
        <p:spPr>
          <a:xfrm>
            <a:off x="7848600" y="5743575"/>
            <a:ext cx="76200" cy="76200"/>
          </a:xfrm>
          <a:prstGeom prst="rect">
            <a:avLst/>
          </a:prstGeom>
          <a:solidFill>
            <a:srgbClr val="9A86BE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98" name="f2-score-cell-3-0"/>
          <p:cNvSpPr>
            <a:spLocks noGrp="1"/>
          </p:cNvSpPr>
          <p:nvPr/>
        </p:nvSpPr>
        <p:spPr>
          <a:xfrm>
            <a:off x="7591425" y="5829300"/>
            <a:ext cx="76200" cy="76200"/>
          </a:xfrm>
          <a:prstGeom prst="rect">
            <a:avLst/>
          </a:prstGeom>
          <a:solidFill>
            <a:srgbClr val="D487AD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499" name="f2-score-cell-3-1"/>
          <p:cNvSpPr>
            <a:spLocks noGrp="1"/>
          </p:cNvSpPr>
          <p:nvPr/>
        </p:nvSpPr>
        <p:spPr>
          <a:xfrm>
            <a:off x="7677150" y="5829300"/>
            <a:ext cx="76200" cy="76200"/>
          </a:xfrm>
          <a:prstGeom prst="rect">
            <a:avLst/>
          </a:prstGeom>
          <a:solidFill>
            <a:srgbClr val="75A9C8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500" name="f2-score-cell-3-2"/>
          <p:cNvSpPr>
            <a:spLocks noGrp="1"/>
          </p:cNvSpPr>
          <p:nvPr/>
        </p:nvSpPr>
        <p:spPr>
          <a:xfrm>
            <a:off x="7762875" y="5829300"/>
            <a:ext cx="76200" cy="76200"/>
          </a:xfrm>
          <a:prstGeom prst="rect">
            <a:avLst/>
          </a:prstGeom>
          <a:solidFill>
            <a:srgbClr val="9A86BE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501" name="f2-score-cell-3-3"/>
          <p:cNvSpPr>
            <a:spLocks noGrp="1"/>
          </p:cNvSpPr>
          <p:nvPr/>
        </p:nvSpPr>
        <p:spPr>
          <a:xfrm>
            <a:off x="7848600" y="5829300"/>
            <a:ext cx="76200" cy="76200"/>
          </a:xfrm>
          <a:prstGeom prst="rect">
            <a:avLst/>
          </a:prstGeom>
          <a:solidFill>
            <a:srgbClr val="D487AD"/>
          </a:solidFill>
          <a:ln w="2858">
            <a:solidFill>
              <a:srgbClr val="FFFFFF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/>
        </p:txBody>
      </p:sp>
      <p:sp>
        <p:nvSpPr>
          <p:cNvPr id="502" name="f2-score-label"/>
          <p:cNvSpPr>
            <a:spLocks noGrp="1"/>
          </p:cNvSpPr>
          <p:nvPr/>
        </p:nvSpPr>
        <p:spPr>
          <a:xfrm>
            <a:off x="7486650" y="5981700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67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7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QKᵀ / √d</a:t>
            </a:r>
            <a:endParaRPr sz="675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3" name="f2-softmax"/>
          <p:cNvSpPr>
            <a:spLocks noGrp="1"/>
          </p:cNvSpPr>
          <p:nvPr/>
        </p:nvSpPr>
        <p:spPr>
          <a:xfrm>
            <a:off x="7429500" y="6191250"/>
            <a:ext cx="6096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7AE66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675" b="1">
                <a:solidFill>
                  <a:srgbClr val="A77A3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75" b="1">
                <a:solidFill>
                  <a:srgbClr val="A77A3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Softmax</a:t>
            </a:r>
            <a:endParaRPr sz="675" b="1">
              <a:solidFill>
                <a:srgbClr val="A77A3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4" name="f2-weighted"/>
          <p:cNvSpPr>
            <a:spLocks noGrp="1"/>
          </p:cNvSpPr>
          <p:nvPr/>
        </p:nvSpPr>
        <p:spPr>
          <a:xfrm>
            <a:off x="8124825" y="6191250"/>
            <a:ext cx="4572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75A9C8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75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· V</a:t>
            </a:r>
            <a:endParaRPr sz="750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5" name="f2-attn-proj"/>
          <p:cNvSpPr>
            <a:spLocks noGrp="1"/>
          </p:cNvSpPr>
          <p:nvPr/>
        </p:nvSpPr>
        <p:spPr>
          <a:xfrm>
            <a:off x="8648700" y="6191250"/>
            <a:ext cx="276225" cy="304800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9525">
            <a:solidFill>
              <a:srgbClr val="9A86BE"/>
            </a:solidFill>
            <a:prstDash val="solid"/>
          </a:ln>
        </p:spPr>
        <p:txBody>
          <a:bodyPr wrap="square" lIns="9525" tIns="19050" rIns="9525" bIns="19050" anchor="ctr">
            <a:noAutofit/>
          </a:bodyPr>
          <a:lstStyle/>
          <a:p>
            <a:pPr algn="ctr">
              <a:defRPr sz="60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Proj.</a:t>
            </a:r>
            <a:endParaRPr sz="600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737" name="直接箭头连接符 736"/>
          <p:cNvCxnSpPr>
            <a:stCxn id="479" idx="3"/>
            <a:endCxn id="480" idx="1"/>
          </p:cNvCxnSpPr>
          <p:nvPr/>
        </p:nvCxnSpPr>
        <p:spPr>
          <a:xfrm flipV="1">
            <a:off x="6858000" y="5224463"/>
            <a:ext cx="0" cy="119063"/>
          </a:xfrm>
          <a:prstGeom prst="straightConnector1">
            <a:avLst/>
          </a:prstGeom>
          <a:ln w="13335">
            <a:solidFill>
              <a:srgbClr val="A9A5A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38" name="直接箭头连接符 737"/>
          <p:cNvCxnSpPr>
            <a:stCxn id="480" idx="3"/>
            <a:endCxn id="482" idx="1"/>
          </p:cNvCxnSpPr>
          <p:nvPr/>
        </p:nvCxnSpPr>
        <p:spPr>
          <a:xfrm flipV="1">
            <a:off x="7305675" y="5072063"/>
            <a:ext cx="142875" cy="152400"/>
          </a:xfrm>
          <a:prstGeom prst="straightConnector1">
            <a:avLst/>
          </a:prstGeom>
          <a:ln w="13335">
            <a:solidFill>
              <a:srgbClr val="D487A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39" name="肘形连接符 738"/>
          <p:cNvCxnSpPr>
            <a:stCxn id="482" idx="2"/>
            <a:endCxn id="485" idx="0"/>
          </p:cNvCxnSpPr>
          <p:nvPr/>
        </p:nvCxnSpPr>
        <p:spPr>
          <a:xfrm>
            <a:off x="7581900" y="5334000"/>
            <a:ext cx="180975" cy="190500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D487A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40" name="肘形连接符 739"/>
          <p:cNvCxnSpPr>
            <a:stCxn id="483" idx="2"/>
            <a:endCxn id="485" idx="0"/>
          </p:cNvCxnSpPr>
          <p:nvPr/>
        </p:nvCxnSpPr>
        <p:spPr>
          <a:xfrm flipH="1">
            <a:off x="7762875" y="5334000"/>
            <a:ext cx="142875" cy="190500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9A86B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41" name="直接箭头连接符 740"/>
          <p:cNvCxnSpPr>
            <a:stCxn id="485" idx="2"/>
            <a:endCxn id="503" idx="0"/>
          </p:cNvCxnSpPr>
          <p:nvPr/>
        </p:nvCxnSpPr>
        <p:spPr>
          <a:xfrm flipH="1">
            <a:off x="7734300" y="5962650"/>
            <a:ext cx="28575" cy="228600"/>
          </a:xfrm>
          <a:prstGeom prst="straightConnector1">
            <a:avLst/>
          </a:prstGeom>
          <a:ln w="13335">
            <a:solidFill>
              <a:srgbClr val="D7AE6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42" name="直接箭头连接符 741"/>
          <p:cNvCxnSpPr>
            <a:stCxn id="503" idx="3"/>
            <a:endCxn id="504" idx="1"/>
          </p:cNvCxnSpPr>
          <p:nvPr/>
        </p:nvCxnSpPr>
        <p:spPr>
          <a:xfrm>
            <a:off x="8039100" y="6343650"/>
            <a:ext cx="85725" cy="0"/>
          </a:xfrm>
          <a:prstGeom prst="straightConnector1">
            <a:avLst/>
          </a:prstGeom>
          <a:ln w="13335">
            <a:solidFill>
              <a:srgbClr val="D7AE6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43" name="直接箭头连接符 742"/>
          <p:cNvCxnSpPr>
            <a:stCxn id="484" idx="2"/>
            <a:endCxn id="504" idx="0"/>
          </p:cNvCxnSpPr>
          <p:nvPr/>
        </p:nvCxnSpPr>
        <p:spPr>
          <a:xfrm>
            <a:off x="8229600" y="5334000"/>
            <a:ext cx="123825" cy="857250"/>
          </a:xfrm>
          <a:prstGeom prst="straightConnector1">
            <a:avLst/>
          </a:prstGeom>
          <a:ln w="13335">
            <a:solidFill>
              <a:srgbClr val="75A9C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44" name="直接箭头连接符 743"/>
          <p:cNvCxnSpPr>
            <a:stCxn id="504" idx="3"/>
            <a:endCxn id="505" idx="1"/>
          </p:cNvCxnSpPr>
          <p:nvPr/>
        </p:nvCxnSpPr>
        <p:spPr>
          <a:xfrm>
            <a:off x="8582025" y="6343650"/>
            <a:ext cx="66675" cy="0"/>
          </a:xfrm>
          <a:prstGeom prst="straightConnector1">
            <a:avLst/>
          </a:prstGeom>
          <a:ln w="13335">
            <a:solidFill>
              <a:srgbClr val="9A86BE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14" name="f2-attn-keywords"/>
          <p:cNvSpPr>
            <a:spLocks noGrp="1"/>
          </p:cNvSpPr>
          <p:nvPr/>
        </p:nvSpPr>
        <p:spPr>
          <a:xfrm>
            <a:off x="6543675" y="6505575"/>
            <a:ext cx="227647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67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75" b="1">
                <a:solidFill>
                  <a:srgbClr val="4E7F9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 heads   ·   entropy penalty   ·   residual</a:t>
            </a:r>
            <a:endParaRPr sz="675" b="1">
              <a:solidFill>
                <a:srgbClr val="4E7F9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15" name="f2-train-icon-0"/>
          <p:cNvSpPr>
            <a:spLocks noGrp="1"/>
          </p:cNvSpPr>
          <p:nvPr/>
        </p:nvSpPr>
        <p:spPr>
          <a:xfrm>
            <a:off x="9477375" y="4876800"/>
            <a:ext cx="190500" cy="190500"/>
          </a:xfrm>
          <a:prstGeom prst="ellipse">
            <a:avLst/>
          </a:prstGeom>
          <a:solidFill>
            <a:srgbClr val="D487AD"/>
          </a:solidFill>
          <a:ln w="0">
            <a:solidFill>
              <a:srgbClr val="D487AD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6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16" name="f2-train-label-0"/>
          <p:cNvSpPr>
            <a:spLocks noGrp="1"/>
          </p:cNvSpPr>
          <p:nvPr/>
        </p:nvSpPr>
        <p:spPr>
          <a:xfrm>
            <a:off x="9715500" y="4810125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750" b="1">
                <a:solidFill>
                  <a:srgbClr val="D487A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D487A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Smooth L1</a:t>
            </a:r>
            <a:endParaRPr sz="750" b="1">
              <a:solidFill>
                <a:srgbClr val="D487A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17" name="f2-train-icon-1"/>
          <p:cNvSpPr>
            <a:spLocks noGrp="1"/>
          </p:cNvSpPr>
          <p:nvPr/>
        </p:nvSpPr>
        <p:spPr>
          <a:xfrm>
            <a:off x="10591800" y="4876800"/>
            <a:ext cx="190500" cy="190500"/>
          </a:xfrm>
          <a:prstGeom prst="ellipse">
            <a:avLst/>
          </a:prstGeom>
          <a:solidFill>
            <a:srgbClr val="D7AE66"/>
          </a:solidFill>
          <a:ln w="0">
            <a:solidFill>
              <a:srgbClr val="D7AE66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6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18" name="f2-train-label-1"/>
          <p:cNvSpPr>
            <a:spLocks noGrp="1"/>
          </p:cNvSpPr>
          <p:nvPr/>
        </p:nvSpPr>
        <p:spPr>
          <a:xfrm>
            <a:off x="10829925" y="4810125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750" b="1">
                <a:solidFill>
                  <a:srgbClr val="D7AE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D7AE6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Mixup  α=0.4</a:t>
            </a:r>
            <a:endParaRPr sz="750" b="1">
              <a:solidFill>
                <a:srgbClr val="D7AE6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19" name="f2-train-icon-2"/>
          <p:cNvSpPr>
            <a:spLocks noGrp="1"/>
          </p:cNvSpPr>
          <p:nvPr/>
        </p:nvSpPr>
        <p:spPr>
          <a:xfrm>
            <a:off x="9477375" y="5429250"/>
            <a:ext cx="190500" cy="190500"/>
          </a:xfrm>
          <a:prstGeom prst="ellipse">
            <a:avLst/>
          </a:prstGeom>
          <a:solidFill>
            <a:srgbClr val="9A86BE"/>
          </a:solidFill>
          <a:ln w="0">
            <a:solidFill>
              <a:srgbClr val="9A86BE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6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0" name="f2-train-label-2"/>
          <p:cNvSpPr>
            <a:spLocks noGrp="1"/>
          </p:cNvSpPr>
          <p:nvPr/>
        </p:nvSpPr>
        <p:spPr>
          <a:xfrm>
            <a:off x="9715500" y="5362575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750" b="1">
                <a:solidFill>
                  <a:srgbClr val="9A86BE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9A86B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RAdam</a:t>
            </a:r>
            <a:endParaRPr sz="750" b="1">
              <a:solidFill>
                <a:srgbClr val="9A86BE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1" name="f2-train-icon-3"/>
          <p:cNvSpPr>
            <a:spLocks noGrp="1"/>
          </p:cNvSpPr>
          <p:nvPr/>
        </p:nvSpPr>
        <p:spPr>
          <a:xfrm>
            <a:off x="10591800" y="5429250"/>
            <a:ext cx="190500" cy="190500"/>
          </a:xfrm>
          <a:prstGeom prst="ellipse">
            <a:avLst/>
          </a:prstGeom>
          <a:solidFill>
            <a:srgbClr val="715B99"/>
          </a:solidFill>
          <a:ln w="0">
            <a:solidFill>
              <a:srgbClr val="715B99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6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2" name="f2-train-label-3"/>
          <p:cNvSpPr>
            <a:spLocks noGrp="1"/>
          </p:cNvSpPr>
          <p:nvPr/>
        </p:nvSpPr>
        <p:spPr>
          <a:xfrm>
            <a:off x="10829925" y="5362575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7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715B9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OneCycle</a:t>
            </a:r>
            <a:endParaRPr sz="750" b="1">
              <a:solidFill>
                <a:srgbClr val="715B9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3" name="f2-train-icon-4"/>
          <p:cNvSpPr>
            <a:spLocks noGrp="1"/>
          </p:cNvSpPr>
          <p:nvPr/>
        </p:nvSpPr>
        <p:spPr>
          <a:xfrm>
            <a:off x="9477375" y="5981700"/>
            <a:ext cx="190500" cy="190500"/>
          </a:xfrm>
          <a:prstGeom prst="ellipse">
            <a:avLst/>
          </a:prstGeom>
          <a:solidFill>
            <a:srgbClr val="75A9C8"/>
          </a:solidFill>
          <a:ln w="0">
            <a:solidFill>
              <a:srgbClr val="75A9C8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6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4" name="f2-train-label-4"/>
          <p:cNvSpPr>
            <a:spLocks noGrp="1"/>
          </p:cNvSpPr>
          <p:nvPr/>
        </p:nvSpPr>
        <p:spPr>
          <a:xfrm>
            <a:off x="9715500" y="5915025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750" b="1">
                <a:solidFill>
                  <a:srgbClr val="75A9C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75A9C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Early stopping</a:t>
            </a:r>
            <a:endParaRPr sz="750" b="1">
              <a:solidFill>
                <a:srgbClr val="75A9C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5" name="f2-train-icon-5"/>
          <p:cNvSpPr>
            <a:spLocks noGrp="1"/>
          </p:cNvSpPr>
          <p:nvPr/>
        </p:nvSpPr>
        <p:spPr>
          <a:xfrm>
            <a:off x="10591800" y="5981700"/>
            <a:ext cx="190500" cy="190500"/>
          </a:xfrm>
          <a:prstGeom prst="ellipse">
            <a:avLst/>
          </a:prstGeom>
          <a:solidFill>
            <a:srgbClr val="88B6A5"/>
          </a:solidFill>
          <a:ln w="0">
            <a:solidFill>
              <a:srgbClr val="88B6A5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6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6" name="f2-train-label-5"/>
          <p:cNvSpPr>
            <a:spLocks noGrp="1"/>
          </p:cNvSpPr>
          <p:nvPr/>
        </p:nvSpPr>
        <p:spPr>
          <a:xfrm>
            <a:off x="10829925" y="5915025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750" b="1">
                <a:solidFill>
                  <a:srgbClr val="88B6A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88B6A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SWA</a:t>
            </a:r>
            <a:endParaRPr sz="750" b="1">
              <a:solidFill>
                <a:srgbClr val="88B6A5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7" name="f2-range"/>
          <p:cNvSpPr>
            <a:spLocks noGrp="1"/>
          </p:cNvSpPr>
          <p:nvPr/>
        </p:nvSpPr>
        <p:spPr>
          <a:xfrm>
            <a:off x="9448800" y="6315075"/>
            <a:ext cx="1028700" cy="228600"/>
          </a:xfrm>
          <a:prstGeom prst="roundRect">
            <a:avLst>
              <a:gd name="adj" fmla="val 33333"/>
            </a:avLst>
          </a:prstGeom>
          <a:solidFill>
            <a:srgbClr val="FAEFF5"/>
          </a:solidFill>
          <a:ln w="9525">
            <a:solidFill>
              <a:srgbClr val="D487AD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75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A95E8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Range penalty</a:t>
            </a:r>
            <a:endParaRPr sz="750" b="1">
              <a:solidFill>
                <a:srgbClr val="A95E8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8" name="f2-training-output"/>
          <p:cNvSpPr>
            <a:spLocks noGrp="1"/>
          </p:cNvSpPr>
          <p:nvPr/>
        </p:nvSpPr>
        <p:spPr>
          <a:xfrm>
            <a:off x="10582275" y="6315075"/>
            <a:ext cx="1076325" cy="228600"/>
          </a:xfrm>
          <a:prstGeom prst="roundRect">
            <a:avLst>
              <a:gd name="adj" fmla="val 33333"/>
            </a:avLst>
          </a:prstGeom>
          <a:solidFill>
            <a:srgbClr val="EFF6F2"/>
          </a:solidFill>
          <a:ln w="9525">
            <a:solidFill>
              <a:srgbClr val="88B6A5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defRPr sz="750" b="1">
                <a:solidFill>
                  <a:srgbClr val="5F8E7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750" b="1">
                <a:solidFill>
                  <a:srgbClr val="5F8E7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Frozen ensemble</a:t>
            </a:r>
            <a:endParaRPr sz="750" b="1">
              <a:solidFill>
                <a:srgbClr val="5F8E7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716</Words>
  <Application>WPS 演示</Application>
  <PresentationFormat>Converted Presentation</PresentationFormat>
  <Paragraphs>171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</vt:lpstr>
      <vt:lpstr>MS PGothic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飞</cp:lastModifiedBy>
  <cp:revision>1</cp:revision>
  <dcterms:created xsi:type="dcterms:W3CDTF">2026-08-10T13:50:26Z</dcterms:created>
  <dcterms:modified xsi:type="dcterms:W3CDTF">2026-08-10T13:50:26Z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2D5FD209BF7F4340A0A4D687B69489A5_12</vt:lpwstr>
  </property>
  <property fmtid="{D5CDD505-2E9C-101B-9397-08002B2CF9AE}" pid="3" name="KSOProductBuildVer">
    <vt:lpwstr>2052-12.1.0.28043</vt:lpwstr>
  </property>
</Properties>
</file>